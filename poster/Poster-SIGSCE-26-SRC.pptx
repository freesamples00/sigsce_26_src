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53" r:id="rId5"/>
  </p:sldMasterIdLst>
  <p:notesMasterIdLst>
    <p:notesMasterId r:id="rId7"/>
  </p:notesMasterIdLst>
  <p:handoutMasterIdLst>
    <p:handoutMasterId r:id="rId8"/>
  </p:handoutMasterIdLst>
  <p:sldIdLst>
    <p:sldId id="259" r:id="rId6"/>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40" userDrawn="1">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8BB7C8-26B6-AEE9-3414-4D333717FCF5}" name="Christensen, Spencer" initials="CS" userId="S::spencer.christensen@marquette.edu::05c814f4-ce77-45f1-8219-95c3d307d2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55AF58-2550-473C-A22C-E7C7ECFDEFE1}" v="4174" dt="2026-02-18T00:43:59.374"/>
    <p1510:client id="{AD40F6C8-8743-457E-B20D-D030FB44799D}" v="246" dt="2026-02-17T04:50:54.004"/>
    <p1510:client id="{E37882E4-D567-C34C-ABA0-95B554715716}" v="2179" dt="2026-02-18T01:40:25.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10"/>
    <p:restoredTop sz="94676"/>
  </p:normalViewPr>
  <p:slideViewPr>
    <p:cSldViewPr snapToGrid="0">
      <p:cViewPr varScale="1">
        <p:scale>
          <a:sx n="43" d="100"/>
          <a:sy n="43" d="100"/>
        </p:scale>
        <p:origin x="6800" y="304"/>
      </p:cViewPr>
      <p:guideLst>
        <p:guide orient="horz" pos="3318"/>
        <p:guide orient="horz" pos="240"/>
        <p:guide orient="horz" pos="20160"/>
        <p:guide orient="horz"/>
        <p:guide pos="264"/>
        <p:guide pos="2738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2/17/26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21:30:28.311"/>
    </inkml:context>
    <inkml:brush xml:id="br0">
      <inkml:brushProperty name="width" value="0.035" units="cm"/>
      <inkml:brushProperty name="height" value="0.035" units="cm"/>
    </inkml:brush>
  </inkml:definitions>
  <inkml:trace contextRef="#ctx0" brushRef="#br0">1 46 24575,'0'-25'0,"0"4"0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21:30:29.411"/>
    </inkml:context>
    <inkml:brush xml:id="br0">
      <inkml:brushProperty name="width" value="0.035" units="cm"/>
      <inkml:brushProperty name="height" value="0.035" units="cm"/>
    </inkml:brush>
  </inkml:definitions>
  <inkml:trace contextRef="#ctx0" brushRef="#br0">0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21:32:03.679"/>
    </inkml:context>
    <inkml:brush xml:id="br0">
      <inkml:brushProperty name="width" value="0.035" units="cm"/>
      <inkml:brushProperty name="height" value="0.035" units="cm"/>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21:32:18.251"/>
    </inkml:context>
    <inkml:brush xml:id="br0">
      <inkml:brushProperty name="width" value="0.035" units="cm"/>
      <inkml:brushProperty name="height" value="0.035" units="cm"/>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2/17/26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D4EB-4F32-66B0-A00D-AD6F0B81E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78FB4-5C2A-4D92-7960-003D9D0DF5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7339D1-8AEF-D8B4-9725-44561ABDF7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A8B064-382C-B38A-32D5-3D69C0857153}"/>
              </a:ext>
            </a:extLst>
          </p:cNvPr>
          <p:cNvSpPr>
            <a:spLocks noGrp="1"/>
          </p:cNvSpPr>
          <p:nvPr>
            <p:ph type="sldNum" sz="quarter" idx="5"/>
          </p:nvPr>
        </p:nvSpPr>
        <p:spPr/>
        <p:txBody>
          <a:bodyPr/>
          <a:lstStyle/>
          <a:p>
            <a:fld id="{26A1A87D-CAF7-4BDC-A0D3-C0DBEDE81619}" type="slidenum">
              <a:rPr lang="en-US" smtClean="0"/>
              <a:pPr/>
              <a:t>1</a:t>
            </a:fld>
            <a:endParaRPr lang="en-US"/>
          </a:p>
        </p:txBody>
      </p:sp>
    </p:spTree>
    <p:extLst>
      <p:ext uri="{BB962C8B-B14F-4D97-AF65-F5344CB8AC3E}">
        <p14:creationId xmlns:p14="http://schemas.microsoft.com/office/powerpoint/2010/main" val="2606293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INTRODUCTION or ABSTRACT</a:t>
            </a:r>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OBJECTIVES</a:t>
            </a:r>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MATERIALS &amp; METHODS</a:t>
            </a:r>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RESULTS</a:t>
            </a:r>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CONCLUSIONS</a:t>
            </a:r>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REFERENCES</a:t>
            </a:r>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a:t>(click to edit)  ACKNOWLEDGEMENTS or  CONTACT</a:t>
            </a:r>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affiliations</a:t>
            </a:r>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authors</a:t>
            </a:r>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4703D5-BF2F-DF41-7EEE-50B26CAB4433}"/>
              </a:ext>
            </a:extLst>
          </p:cNvPr>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grpSp>
        <p:nvGrpSpPr>
          <p:cNvPr id="6" name="Group 5">
            <a:extLst>
              <a:ext uri="{FF2B5EF4-FFF2-40B4-BE49-F238E27FC236}">
                <a16:creationId xmlns:a16="http://schemas.microsoft.com/office/drawing/2014/main" id="{E5ED0136-E6E9-E340-DCD6-5053BABFBFE4}"/>
              </a:ext>
            </a:extLst>
          </p:cNvPr>
          <p:cNvGrpSpPr/>
          <p:nvPr userDrawn="1"/>
        </p:nvGrpSpPr>
        <p:grpSpPr>
          <a:xfrm>
            <a:off x="0" y="14098"/>
            <a:ext cx="43891200" cy="4314166"/>
            <a:chOff x="0" y="-1"/>
            <a:chExt cx="12192000" cy="1219223"/>
          </a:xfrm>
        </p:grpSpPr>
        <p:sp>
          <p:nvSpPr>
            <p:cNvPr id="7" name="Document 6">
              <a:extLst>
                <a:ext uri="{FF2B5EF4-FFF2-40B4-BE49-F238E27FC236}">
                  <a16:creationId xmlns:a16="http://schemas.microsoft.com/office/drawing/2014/main" id="{F27200FE-D213-3004-DA26-3B8202A2AB23}"/>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BB4B2C32-5D48-98BC-A030-3CCE7D871E0A}"/>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2" name="Table 11">
            <a:extLst>
              <a:ext uri="{FF2B5EF4-FFF2-40B4-BE49-F238E27FC236}">
                <a16:creationId xmlns:a16="http://schemas.microsoft.com/office/drawing/2014/main" id="{9631A715-ABDD-C916-FF3F-590B3A828BD8}"/>
              </a:ext>
            </a:extLst>
          </p:cNvPr>
          <p:cNvGraphicFramePr>
            <a:graphicFrameLocks noGrp="1"/>
          </p:cNvGraphicFramePr>
          <p:nvPr userDrawn="1">
            <p:extLst>
              <p:ext uri="{D42A27DB-BD31-4B8C-83A1-F6EECF244321}">
                <p14:modId xmlns:p14="http://schemas.microsoft.com/office/powerpoint/2010/main" val="428177025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a:solidFill>
                            <a:srgbClr val="1F3A4E"/>
                          </a:solidFill>
                          <a:latin typeface="Arial Black" panose="020B0A04020102020204" pitchFamily="34" charset="0"/>
                        </a:rPr>
                        <a:t>QUICK START GUIDE</a:t>
                      </a:r>
                      <a:br>
                        <a:rPr lang="en-US" sz="3600" b="0" spc="600">
                          <a:solidFill>
                            <a:srgbClr val="1F3A4E"/>
                          </a:solidFill>
                          <a:latin typeface="Arial Black" panose="020B0A04020102020204" pitchFamily="34" charset="0"/>
                        </a:rPr>
                      </a:br>
                      <a:r>
                        <a:rPr lang="en-US" sz="2800" b="1" spc="0">
                          <a:solidFill>
                            <a:srgbClr val="FF0000"/>
                          </a:solidFill>
                          <a:latin typeface="Trebuchet MS" pitchFamily="34" charset="0"/>
                        </a:rPr>
                        <a:t>(THIS SIDEBAR WILL NOT PRINT)</a:t>
                      </a:r>
                      <a:endParaRPr lang="en-US" sz="3600" b="1" spc="600">
                        <a:solidFill>
                          <a:schemeClr val="bg1"/>
                        </a:solidFill>
                        <a:latin typeface="Trebuchet MS" pitchFamily="34" charset="0"/>
                      </a:endParaRPr>
                    </a:p>
                  </a:txBody>
                  <a:tcPr marL="182880" marT="137160">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4">
                <a:tc gridSpan="2">
                  <a:txBody>
                    <a:bodyPr/>
                    <a:lstStyle/>
                    <a:p>
                      <a:pPr defTabSz="3765639"/>
                      <a:r>
                        <a:rPr lang="en-US" sz="2000" i="0">
                          <a:solidFill>
                            <a:srgbClr val="D9D9D9"/>
                          </a:solidFill>
                          <a:latin typeface="Arial"/>
                          <a:cs typeface="Arial"/>
                        </a:rPr>
                        <a:t>This PowerPoint template produces a </a:t>
                      </a:r>
                      <a:r>
                        <a:rPr lang="en-US" sz="2000" i="0">
                          <a:solidFill>
                            <a:srgbClr val="FFC000"/>
                          </a:solidFill>
                          <a:latin typeface="Arial"/>
                          <a:cs typeface="Arial"/>
                        </a:rPr>
                        <a:t>36"x48" </a:t>
                      </a:r>
                      <a:r>
                        <a:rPr lang="en-US" sz="2000" i="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the  </a:t>
                      </a:r>
                      <a:r>
                        <a:rPr lang="en-US" sz="2000" i="0">
                          <a:solidFill>
                            <a:srgbClr val="FFC000"/>
                          </a:solidFill>
                          <a:latin typeface="Arial"/>
                          <a:cs typeface="Arial"/>
                        </a:rPr>
                        <a:t>HELP DESK</a:t>
                      </a:r>
                      <a:r>
                        <a:rPr lang="en-US" sz="2000" i="0" baseline="0">
                          <a:solidFill>
                            <a:srgbClr val="D9D9D9"/>
                          </a:solidFill>
                          <a:latin typeface="Arial"/>
                          <a:cs typeface="Arial"/>
                        </a:rPr>
                        <a:t> </a:t>
                      </a:r>
                      <a:r>
                        <a:rPr lang="en-US" sz="2000" i="0">
                          <a:solidFill>
                            <a:srgbClr val="D9D9D9"/>
                          </a:solidFill>
                          <a:latin typeface="Arial"/>
                          <a:cs typeface="Arial"/>
                        </a:rPr>
                        <a:t>tab.</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To print your poster using our same-day professional printing service,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a:t>
                      </a:r>
                      <a:r>
                        <a:rPr lang="en-US" sz="2000" i="0">
                          <a:solidFill>
                            <a:srgbClr val="FFC000"/>
                          </a:solidFill>
                          <a:latin typeface="Arial"/>
                          <a:cs typeface="Arial"/>
                        </a:rPr>
                        <a:t>Order your poster</a:t>
                      </a:r>
                      <a:r>
                        <a:rPr lang="en-US" sz="2000" i="0">
                          <a:solidFill>
                            <a:srgbClr val="D9D9D9"/>
                          </a:solidFill>
                          <a:latin typeface="Arial"/>
                          <a:cs typeface="Arial"/>
                        </a:rPr>
                        <a:t>".</a:t>
                      </a:r>
                      <a:endParaRPr lang="en-US" sz="2000" b="1">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a:solidFill>
                          <a:srgbClr val="1F3A4E"/>
                        </a:solidFill>
                      </a:endParaRPr>
                    </a:p>
                    <a:p>
                      <a:pPr algn="ctr"/>
                      <a:endParaRPr lang="en-US" sz="2000">
                        <a:solidFill>
                          <a:srgbClr val="1F3A4E"/>
                        </a:solidFill>
                      </a:endParaRPr>
                    </a:p>
                    <a:p>
                      <a:pPr algn="ctr"/>
                      <a:r>
                        <a:rPr lang="en-US" sz="2000">
                          <a:solidFill>
                            <a:schemeClr val="bg1"/>
                          </a:solidFill>
                          <a:latin typeface="Arial" panose="020B0604020202020204" pitchFamily="34" charset="0"/>
                          <a:cs typeface="Arial" panose="020B0604020202020204" pitchFamily="34" charset="0"/>
                        </a:rPr>
                        <a:t>This is a template for a </a:t>
                      </a:r>
                    </a:p>
                    <a:p>
                      <a:pPr algn="ctr"/>
                      <a:r>
                        <a:rPr lang="en-US" sz="2000">
                          <a:solidFill>
                            <a:schemeClr val="bg1"/>
                          </a:solidFill>
                          <a:latin typeface="Arial" panose="020B0604020202020204" pitchFamily="34" charset="0"/>
                          <a:cs typeface="Arial" panose="020B0604020202020204" pitchFamily="34" charset="0"/>
                        </a:rPr>
                        <a:t>presentation poster</a:t>
                      </a:r>
                      <a:br>
                        <a:rPr lang="en-US" sz="2000">
                          <a:solidFill>
                            <a:schemeClr val="bg1"/>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36 inches tall</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by</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48 inches wide</a:t>
                      </a:r>
                      <a:br>
                        <a:rPr lang="en-US" sz="2000">
                          <a:solidFill>
                            <a:schemeClr val="bg1"/>
                          </a:solidFill>
                          <a:latin typeface="Arial" panose="020B0604020202020204" pitchFamily="34" charset="0"/>
                          <a:cs typeface="Arial" panose="020B0604020202020204" pitchFamily="34" charset="0"/>
                        </a:rPr>
                      </a:br>
                      <a:endParaRPr lang="en-US" sz="200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Important: Check the template size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30 tall x 40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42 tall x 56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a:solidFill>
                          <a:srgbClr val="1F3A4E"/>
                        </a:solidFill>
                      </a:endParaRPr>
                    </a:p>
                  </a:txBody>
                  <a:tcPr>
                    <a:blipFill rotWithShape="1">
                      <a:blip r:embed="rId3"/>
                      <a:stretch>
                        <a:fillRect/>
                      </a:stretch>
                    </a:blipFill>
                  </a:tcPr>
                </a:tc>
                <a:tc>
                  <a:txBody>
                    <a:bodyPr/>
                    <a:lstStyle/>
                    <a:p>
                      <a:pPr algn="l"/>
                      <a:r>
                        <a:rPr lang="en-US" sz="2400" b="1" baseline="0">
                          <a:solidFill>
                            <a:srgbClr val="FFC000"/>
                          </a:solidFill>
                          <a:latin typeface="Arial" panose="020B0604020202020204" pitchFamily="34" charset="0"/>
                          <a:cs typeface="Arial" panose="020B0604020202020204" pitchFamily="34" charset="0"/>
                        </a:rPr>
                        <a:t>How to </a:t>
                      </a:r>
                      <a:r>
                        <a:rPr lang="en-US" sz="4000" b="1" baseline="0">
                          <a:solidFill>
                            <a:srgbClr val="FFC000"/>
                          </a:solidFill>
                          <a:latin typeface="Arial" panose="020B0604020202020204" pitchFamily="34" charset="0"/>
                          <a:cs typeface="Arial" panose="020B0604020202020204" pitchFamily="34" charset="0"/>
                        </a:rPr>
                        <a:t>Zoom in </a:t>
                      </a:r>
                      <a:r>
                        <a:rPr lang="en-US" sz="2400" b="1" baseline="0">
                          <a:solidFill>
                            <a:srgbClr val="FFC000"/>
                          </a:solidFill>
                          <a:latin typeface="Arial" panose="020B0604020202020204" pitchFamily="34" charset="0"/>
                          <a:cs typeface="Arial" panose="020B0604020202020204" pitchFamily="34" charset="0"/>
                        </a:rPr>
                        <a:t>and </a:t>
                      </a:r>
                      <a:r>
                        <a:rPr lang="en-US" sz="1800" b="1" baseline="0">
                          <a:solidFill>
                            <a:srgbClr val="FFC000"/>
                          </a:solidFill>
                          <a:latin typeface="Arial" panose="020B0604020202020204" pitchFamily="34" charset="0"/>
                          <a:cs typeface="Arial" panose="020B0604020202020204" pitchFamily="34" charset="0"/>
                        </a:rPr>
                        <a:t>out</a:t>
                      </a:r>
                      <a:endParaRPr lang="en-US" sz="2400" b="1" baseline="0">
                        <a:solidFill>
                          <a:srgbClr val="FFC000"/>
                        </a:solidFill>
                        <a:latin typeface="Arial" panose="020B0604020202020204" pitchFamily="34" charset="0"/>
                        <a:cs typeface="Arial" panose="020B0604020202020204" pitchFamily="34" charset="0"/>
                      </a:endParaRPr>
                    </a:p>
                    <a:p>
                      <a:pPr algn="l"/>
                      <a:r>
                        <a:rPr lang="en-US" sz="2000" b="0" baseline="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1. </a:t>
                      </a:r>
                      <a:r>
                        <a:rPr lang="en-US" sz="2000" b="0" baseline="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2. </a:t>
                      </a:r>
                      <a:r>
                        <a:rPr lang="en-US" sz="2000" b="0" baseline="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Ruler and Guides</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a:solidFill>
                          <a:srgbClr val="1F3A4E"/>
                        </a:solidFill>
                      </a:endParaRPr>
                    </a:p>
                  </a:txBody>
                  <a:tcPr>
                    <a:blipFill rotWithShape="1">
                      <a:blip r:embed="rId4"/>
                      <a:stretch>
                        <a:fillRect/>
                      </a:stretch>
                    </a:blipFill>
                  </a:tcPr>
                </a:tc>
                <a:tc>
                  <a:txBody>
                    <a:bodyPr/>
                    <a:lstStyle/>
                    <a:p>
                      <a:pPr marL="0" lvl="1" indent="0" algn="l" defTabSz="114300"/>
                      <a:r>
                        <a:rPr lang="en-US" sz="2400" b="1" baseline="0">
                          <a:solidFill>
                            <a:srgbClr val="FFC000"/>
                          </a:solidFill>
                          <a:latin typeface="Arial" panose="020B0604020202020204" pitchFamily="34" charset="0"/>
                          <a:cs typeface="Arial" panose="020B0604020202020204" pitchFamily="34" charset="0"/>
                        </a:rPr>
                        <a:t>Headers and text containers</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Click inside a section header to add its text.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a:solidFill>
                            <a:srgbClr val="FFC000"/>
                          </a:solidFill>
                          <a:latin typeface="Arial" panose="020B0604020202020204" pitchFamily="34" charset="0"/>
                          <a:cs typeface="Arial" panose="020B0604020202020204" pitchFamily="34" charset="0"/>
                        </a:rPr>
                        <a:t>Adding content to the poster</a:t>
                      </a:r>
                    </a:p>
                    <a:p>
                      <a:r>
                        <a:rPr lang="en-US" sz="2000" baseline="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72BD4B14-1893-B4DB-61A1-412ACC2BFADA}"/>
              </a:ext>
            </a:extLst>
          </p:cNvPr>
          <p:cNvGraphicFramePr>
            <a:graphicFrameLocks noGrp="1"/>
          </p:cNvGraphicFramePr>
          <p:nvPr userDrawn="1">
            <p:extLst>
              <p:ext uri="{D42A27DB-BD31-4B8C-83A1-F6EECF244321}">
                <p14:modId xmlns:p14="http://schemas.microsoft.com/office/powerpoint/2010/main" val="1007574606"/>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a:solidFill>
                            <a:srgbClr val="1F3A4E"/>
                          </a:solidFill>
                          <a:latin typeface="Arial Black" panose="020B0A04020102020204" pitchFamily="34" charset="0"/>
                        </a:rPr>
                        <a:t>QUICK START GUIDE</a:t>
                      </a:r>
                      <a:br>
                        <a:rPr lang="en-US" sz="4000" b="0" spc="600">
                          <a:solidFill>
                            <a:srgbClr val="1F3A4E"/>
                          </a:solidFill>
                          <a:latin typeface="Arial Black" panose="020B0A04020102020204" pitchFamily="34" charset="0"/>
                        </a:rPr>
                      </a:br>
                      <a:r>
                        <a:rPr lang="en-US" sz="3200" b="1" spc="0">
                          <a:solidFill>
                            <a:srgbClr val="FF0000"/>
                          </a:solidFill>
                          <a:latin typeface="Trebuchet MS" pitchFamily="34" charset="0"/>
                        </a:rPr>
                        <a:t>(THIS SIDEBAR WILL NOT PRINT)</a:t>
                      </a:r>
                      <a:endParaRPr lang="en-US" sz="4000" b="1" spc="60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a:solidFill>
                          <a:srgbClr val="FFC000"/>
                        </a:solidFill>
                      </a:endParaRP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a:solidFill>
                            <a:srgbClr val="FFC000"/>
                          </a:solidFill>
                          <a:latin typeface="Arial" panose="020B0604020202020204" pitchFamily="34" charset="0"/>
                          <a:cs typeface="Arial" panose="020B0604020202020204" pitchFamily="34" charset="0"/>
                        </a:rPr>
                        <a:t>How to change the column layout configuration</a:t>
                      </a:r>
                    </a:p>
                    <a:p>
                      <a:r>
                        <a:rPr lang="en-US" sz="240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a:solidFill>
                            <a:srgbClr val="D9D9D9"/>
                          </a:solidFill>
                          <a:latin typeface="Arial" panose="020B0604020202020204" pitchFamily="34" charset="0"/>
                          <a:cs typeface="Arial" panose="020B0604020202020204" pitchFamily="34" charset="0"/>
                        </a:rPr>
                        <a:t>You can see a tutorial here: </a:t>
                      </a:r>
                      <a:r>
                        <a:rPr lang="en-US" sz="2400" u="sng">
                          <a:solidFill>
                            <a:srgbClr val="FFC000"/>
                          </a:solidFill>
                          <a:latin typeface="Arial" panose="020B0604020202020204" pitchFamily="34" charset="0"/>
                          <a:cs typeface="Arial" panose="020B0604020202020204" pitchFamily="34" charset="0"/>
                        </a:rPr>
                        <a:t>https://</a:t>
                      </a:r>
                      <a:r>
                        <a:rPr lang="en-US" sz="2400" u="sng" err="1">
                          <a:solidFill>
                            <a:srgbClr val="FFC000"/>
                          </a:solidFill>
                          <a:latin typeface="Arial" panose="020B0604020202020204" pitchFamily="34" charset="0"/>
                          <a:cs typeface="Arial" panose="020B0604020202020204" pitchFamily="34" charset="0"/>
                        </a:rPr>
                        <a:t>www.posterpresentations.com</a:t>
                      </a:r>
                      <a:r>
                        <a:rPr lang="en-US" sz="2400" u="sng">
                          <a:solidFill>
                            <a:srgbClr val="FFC000"/>
                          </a:solidFill>
                          <a:latin typeface="Arial" panose="020B0604020202020204" pitchFamily="34" charset="0"/>
                          <a:cs typeface="Arial" panose="020B0604020202020204" pitchFamily="34" charset="0"/>
                        </a:rPr>
                        <a:t>/how-to-change-the-column-</a:t>
                      </a:r>
                      <a:r>
                        <a:rPr lang="en-US" sz="2400" u="sng" err="1">
                          <a:solidFill>
                            <a:srgbClr val="FFC000"/>
                          </a:solidFill>
                          <a:latin typeface="Arial" panose="020B0604020202020204" pitchFamily="34" charset="0"/>
                          <a:cs typeface="Arial" panose="020B0604020202020204" pitchFamily="34" charset="0"/>
                        </a:rPr>
                        <a:t>configuration.html</a:t>
                      </a:r>
                      <a:endParaRPr lang="en-US" u="sng">
                        <a:solidFill>
                          <a:srgbClr val="FFC000"/>
                        </a:solidFill>
                      </a:endParaRPr>
                    </a:p>
                  </a:txBody>
                  <a:tcPr marL="182880" marT="137160">
                    <a:solidFill>
                      <a:schemeClr val="tx1"/>
                    </a:solidFill>
                  </a:tcPr>
                </a:tc>
                <a:tc hMerge="1">
                  <a:txBody>
                    <a:bodyPr/>
                    <a:lstStyle/>
                    <a:p>
                      <a:endParaRPr lang="en-US" sz="2400">
                        <a:solidFill>
                          <a:srgbClr val="1F3A4E"/>
                        </a:solidFill>
                      </a:endParaRPr>
                    </a:p>
                  </a:txBody>
                  <a:tcPr marL="182880" marT="137160">
                    <a:blipFill rotWithShape="1">
                      <a:blip r:embed="rId9"/>
                      <a:stretch>
                        <a:fillRect/>
                      </a:stretch>
                    </a:blipFill>
                  </a:tcPr>
                </a:tc>
                <a:tc hMerge="1">
                  <a:txBody>
                    <a:bodyPr/>
                    <a:lstStyle/>
                    <a:p>
                      <a:endParaRPr lang="en-US"/>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panose="020B0604020202020204" pitchFamily="34" charset="0"/>
                          <a:cs typeface="Arial" panose="020B0604020202020204" pitchFamily="34" charset="0"/>
                        </a:rPr>
                        <a:t>The Quick Start</a:t>
                      </a:r>
                      <a:r>
                        <a:rPr lang="en-US" sz="2400" baseline="0" noProof="0">
                          <a:solidFill>
                            <a:srgbClr val="D9D9D9"/>
                          </a:solidFill>
                          <a:latin typeface="Arial" panose="020B0604020202020204" pitchFamily="34" charset="0"/>
                          <a:cs typeface="Arial" panose="020B0604020202020204" pitchFamily="34" charset="0"/>
                        </a:rPr>
                        <a:t> Guides</a:t>
                      </a:r>
                      <a:r>
                        <a:rPr lang="en-US" sz="2400" noProof="0">
                          <a:solidFill>
                            <a:srgbClr val="D9D9D9"/>
                          </a:solidFill>
                          <a:latin typeface="Arial" panose="020B0604020202020204" pitchFamily="34" charset="0"/>
                          <a:cs typeface="Arial" panose="020B0604020202020204" pitchFamily="34" charset="0"/>
                        </a:rPr>
                        <a:t> </a:t>
                      </a:r>
                      <a:r>
                        <a:rPr lang="en-US" sz="2400" u="sng" noProof="0">
                          <a:solidFill>
                            <a:srgbClr val="D9D9D9"/>
                          </a:solidFill>
                          <a:latin typeface="Arial" panose="020B0604020202020204" pitchFamily="34" charset="0"/>
                          <a:cs typeface="Arial" panose="020B0604020202020204" pitchFamily="34" charset="0"/>
                        </a:rPr>
                        <a:t>are outside the template’s printable area</a:t>
                      </a:r>
                      <a:r>
                        <a:rPr lang="en-US" sz="2400" noProof="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To hide the guides click on the </a:t>
                      </a:r>
                      <a:r>
                        <a:rPr lang="en-US" sz="2400" b="1" baseline="0" noProof="0">
                          <a:solidFill>
                            <a:srgbClr val="D9D9D9"/>
                          </a:solidFill>
                          <a:latin typeface="Arial" panose="020B0604020202020204" pitchFamily="34" charset="0"/>
                          <a:cs typeface="Arial" panose="020B0604020202020204" pitchFamily="34" charset="0"/>
                        </a:rPr>
                        <a:t>Home</a:t>
                      </a:r>
                      <a:r>
                        <a:rPr lang="en-US" sz="24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a:solidFill>
                            <a:srgbClr val="D9D9D9"/>
                          </a:solidFill>
                          <a:latin typeface="Arial" panose="020B0604020202020204" pitchFamily="34" charset="0"/>
                          <a:cs typeface="Arial" panose="020B0604020202020204" pitchFamily="34" charset="0"/>
                        </a:rPr>
                        <a:t>Without Guides </a:t>
                      </a:r>
                      <a:r>
                        <a:rPr lang="en-US" sz="2400" b="0"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a:t>
                      </a:r>
                      <a:endParaRPr lang="en-US" sz="240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a:solidFill>
                            <a:srgbClr val="FFC000"/>
                          </a:solidFill>
                          <a:latin typeface="Arial" panose="020B0604020202020204" pitchFamily="34" charset="0"/>
                          <a:cs typeface="Arial" panose="020B0604020202020204" pitchFamily="34" charset="0"/>
                        </a:rPr>
                        <a:t>How to</a:t>
                      </a:r>
                      <a:r>
                        <a:rPr lang="en-US" sz="2800" b="1" baseline="0">
                          <a:solidFill>
                            <a:srgbClr val="FFC000"/>
                          </a:solidFill>
                          <a:latin typeface="Arial" panose="020B0604020202020204" pitchFamily="34" charset="0"/>
                          <a:cs typeface="Arial" panose="020B0604020202020204" pitchFamily="34" charset="0"/>
                        </a:rPr>
                        <a:t> preview your poster prior to printing</a:t>
                      </a:r>
                      <a:endParaRPr lang="en-US" sz="2800" b="1">
                        <a:solidFill>
                          <a:srgbClr val="FFC000"/>
                        </a:solidFill>
                        <a:latin typeface="Arial" panose="020B0604020202020204" pitchFamily="34" charset="0"/>
                        <a:cs typeface="Arial" panose="020B0604020202020204" pitchFamily="34" charset="0"/>
                      </a:endParaRPr>
                    </a:p>
                    <a:p>
                      <a:r>
                        <a:rPr lang="en-US" sz="2400">
                          <a:solidFill>
                            <a:srgbClr val="D9D9D9"/>
                          </a:solidFill>
                          <a:latin typeface="Arial" panose="020B0604020202020204" pitchFamily="34" charset="0"/>
                          <a:cs typeface="Arial" panose="020B0604020202020204" pitchFamily="34" charset="0"/>
                        </a:rPr>
                        <a:t>You can preview your poster at any time by pressing the </a:t>
                      </a:r>
                      <a:r>
                        <a:rPr lang="en-US" sz="2400">
                          <a:solidFill>
                            <a:srgbClr val="FFC000"/>
                          </a:solidFill>
                          <a:latin typeface="Arial" panose="020B0604020202020204" pitchFamily="34" charset="0"/>
                          <a:cs typeface="Arial" panose="020B0604020202020204" pitchFamily="34" charset="0"/>
                        </a:rPr>
                        <a:t>F5 key</a:t>
                      </a:r>
                      <a:r>
                        <a:rPr lang="en-US" sz="240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a:solidFill>
                            <a:srgbClr val="FFC000"/>
                          </a:solidFill>
                          <a:latin typeface="Arial" panose="020B0604020202020204" pitchFamily="34" charset="0"/>
                          <a:cs typeface="Arial" panose="020B0604020202020204" pitchFamily="34" charset="0"/>
                        </a:rPr>
                        <a:t>ESC key </a:t>
                      </a:r>
                      <a:r>
                        <a:rPr lang="en-US" sz="240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a:solidFill>
                            <a:srgbClr val="D9D9D9"/>
                          </a:solidFill>
                          <a:latin typeface="Arial" panose="020B0604020202020204" pitchFamily="34" charset="0"/>
                          <a:cs typeface="Arial" panose="020B0604020202020204" pitchFamily="34" charset="0"/>
                        </a:rPr>
                        <a:t>F5</a:t>
                      </a:r>
                      <a:r>
                        <a:rPr lang="en-US" sz="2400" baseline="0">
                          <a:solidFill>
                            <a:srgbClr val="D9D9D9"/>
                          </a:solidFill>
                          <a:latin typeface="Arial" panose="020B0604020202020204" pitchFamily="34" charset="0"/>
                          <a:cs typeface="Arial" panose="020B0604020202020204" pitchFamily="34" charset="0"/>
                        </a:rPr>
                        <a:t> </a:t>
                      </a:r>
                      <a:endParaRPr lang="en-US"/>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When you are ready to have your poster printed go online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and click on the "</a:t>
                      </a:r>
                      <a:r>
                        <a:rPr lang="en-US" sz="2400" noProof="0">
                          <a:solidFill>
                            <a:srgbClr val="FFC000"/>
                          </a:solidFill>
                          <a:latin typeface="Arial"/>
                          <a:cs typeface="Arial"/>
                        </a:rPr>
                        <a:t>Order Your Poster</a:t>
                      </a:r>
                      <a:r>
                        <a:rPr lang="en-US" sz="2400" noProof="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a:solidFill>
                            <a:srgbClr val="D9D9D9"/>
                          </a:solidFill>
                          <a:latin typeface="Arial"/>
                          <a:cs typeface="Arial"/>
                        </a:rPr>
                      </a:br>
                      <a:r>
                        <a:rPr lang="en-US" sz="2400" noProof="0">
                          <a:solidFill>
                            <a:srgbClr val="D9D9D9"/>
                          </a:solidFill>
                          <a:latin typeface="Arial"/>
                          <a:cs typeface="Arial"/>
                        </a:rPr>
                        <a:t>Go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a:solidFill>
                            <a:schemeClr val="bg1">
                              <a:lumMod val="85000"/>
                            </a:schemeClr>
                          </a:solidFill>
                          <a:latin typeface="Arial"/>
                          <a:cs typeface="Arial"/>
                        </a:rPr>
                        <a:t>© 2019</a:t>
                      </a:r>
                      <a:r>
                        <a:rPr lang="en-US" sz="2000" baseline="0">
                          <a:solidFill>
                            <a:schemeClr val="bg1">
                              <a:lumMod val="85000"/>
                            </a:schemeClr>
                          </a:solidFill>
                          <a:latin typeface="Arial"/>
                          <a:cs typeface="Arial"/>
                        </a:rPr>
                        <a:t> </a:t>
                      </a:r>
                      <a:r>
                        <a:rPr lang="en-US" sz="2000" err="1">
                          <a:solidFill>
                            <a:schemeClr val="bg1">
                              <a:lumMod val="85000"/>
                            </a:schemeClr>
                          </a:solidFill>
                          <a:latin typeface="Arial"/>
                          <a:cs typeface="Arial"/>
                        </a:rPr>
                        <a:t>PosterPresentations.com</a:t>
                      </a:r>
                      <a:br>
                        <a:rPr lang="en-US" sz="2000">
                          <a:solidFill>
                            <a:schemeClr val="bg1">
                              <a:lumMod val="85000"/>
                            </a:schemeClr>
                          </a:solidFill>
                          <a:latin typeface="Arial"/>
                          <a:cs typeface="Arial"/>
                        </a:rPr>
                      </a:br>
                      <a:r>
                        <a:rPr lang="en-US" sz="2000">
                          <a:solidFill>
                            <a:schemeClr val="bg1">
                              <a:lumMod val="85000"/>
                            </a:schemeClr>
                          </a:solidFill>
                          <a:latin typeface="Arial"/>
                          <a:cs typeface="Arial"/>
                        </a:rPr>
                        <a:t>2117 Fourth Street ,</a:t>
                      </a:r>
                      <a:r>
                        <a:rPr lang="en-US" sz="2000" baseline="0">
                          <a:solidFill>
                            <a:schemeClr val="bg1">
                              <a:lumMod val="85000"/>
                            </a:schemeClr>
                          </a:solidFill>
                          <a:latin typeface="Arial"/>
                          <a:cs typeface="Arial"/>
                        </a:rPr>
                        <a:t> STE C        </a:t>
                      </a:r>
                    </a:p>
                    <a:p>
                      <a:pPr>
                        <a:lnSpc>
                          <a:spcPts val="2600"/>
                        </a:lnSpc>
                      </a:pPr>
                      <a:r>
                        <a:rPr lang="en-US" sz="2000" baseline="0">
                          <a:solidFill>
                            <a:schemeClr val="bg1">
                              <a:lumMod val="85000"/>
                            </a:schemeClr>
                          </a:solidFill>
                          <a:latin typeface="Arial"/>
                          <a:cs typeface="Arial"/>
                        </a:rPr>
                        <a:t>Berkeley CA 94710 USA</a:t>
                      </a:r>
                      <a:endParaRPr lang="en-US" sz="200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a:solidFill>
                            <a:srgbClr val="D0D0D0"/>
                          </a:solidFill>
                          <a:latin typeface="Arial"/>
                          <a:cs typeface="Arial"/>
                        </a:rPr>
                        <a:t>For complete tutorials</a:t>
                      </a:r>
                      <a:r>
                        <a:rPr lang="en-US" sz="2400" b="1" baseline="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a:solidFill>
                            <a:srgbClr val="FFC000"/>
                          </a:solidFill>
                          <a:latin typeface="Arial"/>
                          <a:cs typeface="Arial"/>
                        </a:rPr>
                        <a:t>https://</a:t>
                      </a:r>
                      <a:r>
                        <a:rPr lang="en-US" sz="1800" b="1" err="1">
                          <a:solidFill>
                            <a:srgbClr val="FFC000"/>
                          </a:solidFill>
                          <a:latin typeface="Arial"/>
                          <a:cs typeface="Arial"/>
                        </a:rPr>
                        <a:t>www.posterpresentations.com</a:t>
                      </a:r>
                      <a:r>
                        <a:rPr lang="en-US" sz="1800" b="1">
                          <a:solidFill>
                            <a:srgbClr val="FFC000"/>
                          </a:solidFill>
                          <a:latin typeface="Arial"/>
                          <a:cs typeface="Arial"/>
                        </a:rPr>
                        <a:t>/</a:t>
                      </a:r>
                      <a:r>
                        <a:rPr lang="en-US" sz="1800" b="1" err="1">
                          <a:solidFill>
                            <a:srgbClr val="FFC000"/>
                          </a:solidFill>
                          <a:latin typeface="Arial"/>
                          <a:cs typeface="Arial"/>
                        </a:rPr>
                        <a:t>helpdesk.html</a:t>
                      </a:r>
                      <a:endParaRPr lang="en-US" sz="180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4.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hyperlink" Target="https://docs.aw-ol.com/d1/en/d1_dev/" TargetMode="External"/><Relationship Id="rId5" Type="http://schemas.openxmlformats.org/officeDocument/2006/relationships/customXml" Target="../ink/ink2.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1.png"/><Relationship Id="rId14" Type="http://schemas.openxmlformats.org/officeDocument/2006/relationships/image" Target="../media/image1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BB62-5D96-4374-82F8-8DA65D78BBA0}"/>
            </a:ext>
          </a:extLst>
        </p:cNvPr>
        <p:cNvGrpSpPr/>
        <p:nvPr/>
      </p:nvGrpSpPr>
      <p:grpSpPr>
        <a:xfrm>
          <a:off x="0" y="0"/>
          <a:ext cx="0" cy="0"/>
          <a:chOff x="0" y="0"/>
          <a:chExt cx="0" cy="0"/>
        </a:xfrm>
      </p:grpSpPr>
      <p:sp>
        <p:nvSpPr>
          <p:cNvPr id="34" name="Text Placeholder 33">
            <a:extLst>
              <a:ext uri="{FF2B5EF4-FFF2-40B4-BE49-F238E27FC236}">
                <a16:creationId xmlns:a16="http://schemas.microsoft.com/office/drawing/2014/main" id="{A4E1E38A-C8A8-8CBA-56F4-C497F960F0CB}"/>
              </a:ext>
            </a:extLst>
          </p:cNvPr>
          <p:cNvSpPr>
            <a:spLocks noGrp="1"/>
          </p:cNvSpPr>
          <p:nvPr>
            <p:ph type="body" sz="quarter" idx="151"/>
          </p:nvPr>
        </p:nvSpPr>
        <p:spPr>
          <a:xfrm>
            <a:off x="5932593" y="1728988"/>
            <a:ext cx="31998968" cy="1280160"/>
          </a:xfrm>
        </p:spPr>
        <p:txBody>
          <a:bodyPr lIns="91440" tIns="45720" rIns="91440" bIns="45720" anchor="t" anchorCtr="1">
            <a:normAutofit/>
          </a:bodyPr>
          <a:lstStyle/>
          <a:p>
            <a:r>
              <a:rPr lang="en-US" sz="6000"/>
              <a:t>Spencer Christensen and Spencer O’Brien, Marquette University</a:t>
            </a:r>
            <a:endParaRPr lang="en-US" sz="6000">
              <a:ea typeface="Calibri"/>
              <a:cs typeface="Calibri"/>
            </a:endParaRPr>
          </a:p>
        </p:txBody>
      </p:sp>
      <p:sp>
        <p:nvSpPr>
          <p:cNvPr id="35" name="Text Placeholder 34">
            <a:extLst>
              <a:ext uri="{FF2B5EF4-FFF2-40B4-BE49-F238E27FC236}">
                <a16:creationId xmlns:a16="http://schemas.microsoft.com/office/drawing/2014/main" id="{0B1CF23E-19F6-3DDD-06B5-DB81DC11B1A5}"/>
              </a:ext>
            </a:extLst>
          </p:cNvPr>
          <p:cNvSpPr>
            <a:spLocks noGrp="1"/>
          </p:cNvSpPr>
          <p:nvPr>
            <p:ph type="body" sz="quarter" idx="153"/>
          </p:nvPr>
        </p:nvSpPr>
        <p:spPr>
          <a:xfrm>
            <a:off x="5932593" y="726506"/>
            <a:ext cx="31998968" cy="1637973"/>
          </a:xfrm>
        </p:spPr>
        <p:txBody>
          <a:bodyPr>
            <a:normAutofit fontScale="62500" lnSpcReduction="20000"/>
          </a:bodyPr>
          <a:lstStyle/>
          <a:p>
            <a:r>
              <a:rPr lang="en-US"/>
              <a:t>Improving Privilege Levels and Memory Protection for Teaching in Embedded </a:t>
            </a:r>
            <a:r>
              <a:rPr lang="en-US" err="1"/>
              <a:t>Xinu</a:t>
            </a:r>
            <a:endParaRPr lang="en-US" b="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29DC6F03-C048-FF50-7F02-DDA7A4B80BCE}"/>
                  </a:ext>
                </a:extLst>
              </p14:cNvPr>
              <p14:cNvContentPartPr/>
              <p14:nvPr/>
            </p14:nvContentPartPr>
            <p14:xfrm>
              <a:off x="49880520" y="2957400"/>
              <a:ext cx="360" cy="16920"/>
            </p14:xfrm>
          </p:contentPart>
        </mc:Choice>
        <mc:Fallback>
          <p:pic>
            <p:nvPicPr>
              <p:cNvPr id="9" name="Ink 8">
                <a:extLst>
                  <a:ext uri="{FF2B5EF4-FFF2-40B4-BE49-F238E27FC236}">
                    <a16:creationId xmlns:a16="http://schemas.microsoft.com/office/drawing/2014/main" id="{29DC6F03-C048-FF50-7F02-DDA7A4B80BCE}"/>
                  </a:ext>
                </a:extLst>
              </p:cNvPr>
              <p:cNvPicPr/>
              <p:nvPr/>
            </p:nvPicPr>
            <p:blipFill>
              <a:blip r:embed="rId4"/>
              <a:stretch>
                <a:fillRect/>
              </a:stretch>
            </p:blipFill>
            <p:spPr>
              <a:xfrm>
                <a:off x="49874400" y="2951280"/>
                <a:ext cx="126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51870596-D659-B0CE-262C-70156AFF66EC}"/>
                  </a:ext>
                </a:extLst>
              </p14:cNvPr>
              <p14:cNvContentPartPr/>
              <p14:nvPr/>
            </p14:nvContentPartPr>
            <p14:xfrm>
              <a:off x="49367160" y="1987560"/>
              <a:ext cx="360" cy="360"/>
            </p14:xfrm>
          </p:contentPart>
        </mc:Choice>
        <mc:Fallback>
          <p:pic>
            <p:nvPicPr>
              <p:cNvPr id="10" name="Ink 9">
                <a:extLst>
                  <a:ext uri="{FF2B5EF4-FFF2-40B4-BE49-F238E27FC236}">
                    <a16:creationId xmlns:a16="http://schemas.microsoft.com/office/drawing/2014/main" id="{51870596-D659-B0CE-262C-70156AFF66EC}"/>
                  </a:ext>
                </a:extLst>
              </p:cNvPr>
              <p:cNvPicPr/>
              <p:nvPr/>
            </p:nvPicPr>
            <p:blipFill>
              <a:blip r:embed="rId6"/>
              <a:stretch>
                <a:fillRect/>
              </a:stretch>
            </p:blipFill>
            <p:spPr>
              <a:xfrm>
                <a:off x="49361040" y="198144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8F9EB5BB-30F8-24EC-583C-078201096AB1}"/>
                  </a:ext>
                </a:extLst>
              </p14:cNvPr>
              <p14:cNvContentPartPr/>
              <p14:nvPr/>
            </p14:nvContentPartPr>
            <p14:xfrm>
              <a:off x="-10060560" y="3540600"/>
              <a:ext cx="360" cy="360"/>
            </p14:xfrm>
          </p:contentPart>
        </mc:Choice>
        <mc:Fallback>
          <p:pic>
            <p:nvPicPr>
              <p:cNvPr id="11" name="Ink 10">
                <a:extLst>
                  <a:ext uri="{FF2B5EF4-FFF2-40B4-BE49-F238E27FC236}">
                    <a16:creationId xmlns:a16="http://schemas.microsoft.com/office/drawing/2014/main" id="{8F9EB5BB-30F8-24EC-583C-078201096AB1}"/>
                  </a:ext>
                </a:extLst>
              </p:cNvPr>
              <p:cNvPicPr/>
              <p:nvPr/>
            </p:nvPicPr>
            <p:blipFill>
              <a:blip r:embed="rId6"/>
              <a:stretch>
                <a:fillRect/>
              </a:stretch>
            </p:blipFill>
            <p:spPr>
              <a:xfrm>
                <a:off x="-10066680" y="353448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93097EAD-E39F-85F6-0652-FF3A79980096}"/>
                  </a:ext>
                </a:extLst>
              </p14:cNvPr>
              <p14:cNvContentPartPr/>
              <p14:nvPr/>
            </p14:nvContentPartPr>
            <p14:xfrm>
              <a:off x="-5465160" y="1924920"/>
              <a:ext cx="360" cy="360"/>
            </p14:xfrm>
          </p:contentPart>
        </mc:Choice>
        <mc:Fallback>
          <p:pic>
            <p:nvPicPr>
              <p:cNvPr id="13" name="Ink 12">
                <a:extLst>
                  <a:ext uri="{FF2B5EF4-FFF2-40B4-BE49-F238E27FC236}">
                    <a16:creationId xmlns:a16="http://schemas.microsoft.com/office/drawing/2014/main" id="{93097EAD-E39F-85F6-0652-FF3A79980096}"/>
                  </a:ext>
                </a:extLst>
              </p:cNvPr>
              <p:cNvPicPr/>
              <p:nvPr/>
            </p:nvPicPr>
            <p:blipFill>
              <a:blip r:embed="rId6"/>
              <a:stretch>
                <a:fillRect/>
              </a:stretch>
            </p:blipFill>
            <p:spPr>
              <a:xfrm>
                <a:off x="-5471280" y="1918800"/>
                <a:ext cx="12600" cy="12600"/>
              </a:xfrm>
              <a:prstGeom prst="rect">
                <a:avLst/>
              </a:prstGeom>
            </p:spPr>
          </p:pic>
        </mc:Fallback>
      </mc:AlternateContent>
      <p:cxnSp>
        <p:nvCxnSpPr>
          <p:cNvPr id="42" name="Straight Connector 41">
            <a:extLst>
              <a:ext uri="{FF2B5EF4-FFF2-40B4-BE49-F238E27FC236}">
                <a16:creationId xmlns:a16="http://schemas.microsoft.com/office/drawing/2014/main" id="{769CAB06-4128-F2E8-3013-824449A438CA}"/>
              </a:ext>
            </a:extLst>
          </p:cNvPr>
          <p:cNvCxnSpPr>
            <a:cxnSpLocks/>
          </p:cNvCxnSpPr>
          <p:nvPr/>
        </p:nvCxnSpPr>
        <p:spPr>
          <a:xfrm>
            <a:off x="477825" y="3009148"/>
            <a:ext cx="42977636" cy="0"/>
          </a:xfrm>
          <a:prstGeom prst="line">
            <a:avLst/>
          </a:prstGeom>
          <a:ln w="76200">
            <a:solidFill>
              <a:srgbClr val="002060"/>
            </a:solidFill>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F2C6E2D2-3F42-33FF-3722-7353D2A644BE}"/>
              </a:ext>
            </a:extLst>
          </p:cNvPr>
          <p:cNvSpPr>
            <a:spLocks noGrp="1" noRot="1" noMove="1" noResize="1" noEditPoints="1" noAdjustHandles="1" noChangeArrowheads="1" noChangeShapeType="1"/>
          </p:cNvSpPr>
          <p:nvPr/>
        </p:nvSpPr>
        <p:spPr>
          <a:xfrm>
            <a:off x="1248937" y="32015151"/>
            <a:ext cx="2754351" cy="9032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08D7501F-4C3B-E151-0A15-AB071CA6A2C1}"/>
              </a:ext>
            </a:extLst>
          </p:cNvPr>
          <p:cNvGrpSpPr/>
          <p:nvPr/>
        </p:nvGrpSpPr>
        <p:grpSpPr>
          <a:xfrm>
            <a:off x="3324341" y="3271603"/>
            <a:ext cx="8041121" cy="5892946"/>
            <a:chOff x="2261167" y="3402495"/>
            <a:chExt cx="9784369" cy="7784525"/>
          </a:xfrm>
        </p:grpSpPr>
        <p:pic>
          <p:nvPicPr>
            <p:cNvPr id="3" name="Picture 2" descr="A black circuit board with many different components&#10;&#10;AI-generated content may be incorrect.">
              <a:extLst>
                <a:ext uri="{FF2B5EF4-FFF2-40B4-BE49-F238E27FC236}">
                  <a16:creationId xmlns:a16="http://schemas.microsoft.com/office/drawing/2014/main" id="{BB3E2419-1912-1907-24E6-9A8FA72450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61167" y="3402495"/>
              <a:ext cx="9784369" cy="6951057"/>
            </a:xfrm>
            <a:prstGeom prst="rect">
              <a:avLst/>
            </a:prstGeom>
          </p:spPr>
        </p:pic>
        <p:sp>
          <p:nvSpPr>
            <p:cNvPr id="62" name="TextBox 61">
              <a:extLst>
                <a:ext uri="{FF2B5EF4-FFF2-40B4-BE49-F238E27FC236}">
                  <a16:creationId xmlns:a16="http://schemas.microsoft.com/office/drawing/2014/main" id="{A07D4DD9-5CD0-AFF5-6560-C7C878CFFC5C}"/>
                </a:ext>
              </a:extLst>
            </p:cNvPr>
            <p:cNvSpPr txBox="1"/>
            <p:nvPr/>
          </p:nvSpPr>
          <p:spPr>
            <a:xfrm>
              <a:off x="2599121" y="10353552"/>
              <a:ext cx="9108463" cy="833468"/>
            </a:xfrm>
            <a:prstGeom prst="rect">
              <a:avLst/>
            </a:prstGeom>
            <a:noFill/>
          </p:spPr>
          <p:txBody>
            <a:bodyPr wrap="none" rtlCol="0">
              <a:spAutoFit/>
            </a:bodyPr>
            <a:lstStyle/>
            <a:p>
              <a:pPr algn="ctr"/>
              <a:r>
                <a:rPr lang="en-US" sz="3500">
                  <a:latin typeface="Times New Roman" panose="02020603050405020304" pitchFamily="18" charset="0"/>
                  <a:cs typeface="Times New Roman" panose="02020603050405020304" pitchFamily="18" charset="0"/>
                </a:rPr>
                <a:t>Figure 1: Allwinner Nezha D1 Board [1]</a:t>
              </a:r>
            </a:p>
          </p:txBody>
        </p:sp>
      </p:grpSp>
      <p:grpSp>
        <p:nvGrpSpPr>
          <p:cNvPr id="73" name="Group 72">
            <a:extLst>
              <a:ext uri="{FF2B5EF4-FFF2-40B4-BE49-F238E27FC236}">
                <a16:creationId xmlns:a16="http://schemas.microsoft.com/office/drawing/2014/main" id="{F795ACD0-ABC7-6B9F-D37F-C2840BA74863}"/>
              </a:ext>
            </a:extLst>
          </p:cNvPr>
          <p:cNvGrpSpPr/>
          <p:nvPr/>
        </p:nvGrpSpPr>
        <p:grpSpPr>
          <a:xfrm>
            <a:off x="14940301" y="14896830"/>
            <a:ext cx="13716000" cy="3122901"/>
            <a:chOff x="15187815" y="10009436"/>
            <a:chExt cx="13716000" cy="3122901"/>
          </a:xfrm>
        </p:grpSpPr>
        <p:pic>
          <p:nvPicPr>
            <p:cNvPr id="71" name="Picture 70" descr="A black and white logo&#10;&#10;AI-generated content may be incorrect.">
              <a:extLst>
                <a:ext uri="{FF2B5EF4-FFF2-40B4-BE49-F238E27FC236}">
                  <a16:creationId xmlns:a16="http://schemas.microsoft.com/office/drawing/2014/main" id="{02D8711B-4057-8F9A-73EA-0E4190CC9F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187815" y="10009436"/>
              <a:ext cx="13716000" cy="2401634"/>
            </a:xfrm>
            <a:prstGeom prst="rect">
              <a:avLst/>
            </a:prstGeom>
          </p:spPr>
        </p:pic>
        <p:sp>
          <p:nvSpPr>
            <p:cNvPr id="72" name="TextBox 71">
              <a:extLst>
                <a:ext uri="{FF2B5EF4-FFF2-40B4-BE49-F238E27FC236}">
                  <a16:creationId xmlns:a16="http://schemas.microsoft.com/office/drawing/2014/main" id="{F64D5BD2-3B08-D5E1-803F-24E2D594AC39}"/>
                </a:ext>
              </a:extLst>
            </p:cNvPr>
            <p:cNvSpPr txBox="1"/>
            <p:nvPr/>
          </p:nvSpPr>
          <p:spPr>
            <a:xfrm>
              <a:off x="18269006" y="12501395"/>
              <a:ext cx="7890302" cy="630942"/>
            </a:xfrm>
            <a:prstGeom prst="rect">
              <a:avLst/>
            </a:prstGeom>
            <a:noFill/>
          </p:spPr>
          <p:txBody>
            <a:bodyPr wrap="none" rtlCol="0">
              <a:spAutoFit/>
            </a:bodyPr>
            <a:lstStyle/>
            <a:p>
              <a:pPr algn="ctr"/>
              <a:r>
                <a:rPr lang="en-US" sz="3500">
                  <a:latin typeface="Times New Roman" panose="02020603050405020304" pitchFamily="18" charset="0"/>
                  <a:cs typeface="Times New Roman" panose="02020603050405020304" pitchFamily="18" charset="0"/>
                </a:rPr>
                <a:t>Figure 2: U-Boot Boot Process on RISC-V</a:t>
              </a:r>
            </a:p>
          </p:txBody>
        </p:sp>
      </p:grpSp>
      <p:grpSp>
        <p:nvGrpSpPr>
          <p:cNvPr id="80" name="Group 79">
            <a:extLst>
              <a:ext uri="{FF2B5EF4-FFF2-40B4-BE49-F238E27FC236}">
                <a16:creationId xmlns:a16="http://schemas.microsoft.com/office/drawing/2014/main" id="{DFF4ED17-3281-4A24-5686-B36811DD3C4A}"/>
              </a:ext>
            </a:extLst>
          </p:cNvPr>
          <p:cNvGrpSpPr/>
          <p:nvPr/>
        </p:nvGrpSpPr>
        <p:grpSpPr>
          <a:xfrm>
            <a:off x="486902" y="9525548"/>
            <a:ext cx="13716000" cy="7893220"/>
            <a:chOff x="15963223" y="14709867"/>
            <a:chExt cx="13716000" cy="7893220"/>
          </a:xfrm>
        </p:grpSpPr>
        <p:sp>
          <p:nvSpPr>
            <p:cNvPr id="81" name="TextBox 80">
              <a:extLst>
                <a:ext uri="{FF2B5EF4-FFF2-40B4-BE49-F238E27FC236}">
                  <a16:creationId xmlns:a16="http://schemas.microsoft.com/office/drawing/2014/main" id="{5DCF8560-3A5C-7D83-278C-0992C291F5E1}"/>
                </a:ext>
              </a:extLst>
            </p:cNvPr>
            <p:cNvSpPr txBox="1">
              <a:spLocks/>
            </p:cNvSpPr>
            <p:nvPr/>
          </p:nvSpPr>
          <p:spPr>
            <a:xfrm>
              <a:off x="15963223" y="14709867"/>
              <a:ext cx="13716000" cy="1143000"/>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Introduction &amp; Background</a:t>
              </a:r>
            </a:p>
          </p:txBody>
        </p:sp>
        <p:sp>
          <p:nvSpPr>
            <p:cNvPr id="82" name="TextBox 81">
              <a:extLst>
                <a:ext uri="{FF2B5EF4-FFF2-40B4-BE49-F238E27FC236}">
                  <a16:creationId xmlns:a16="http://schemas.microsoft.com/office/drawing/2014/main" id="{9388998B-0702-3355-5EFE-76D3358E59A2}"/>
                </a:ext>
              </a:extLst>
            </p:cNvPr>
            <p:cNvSpPr txBox="1"/>
            <p:nvPr/>
          </p:nvSpPr>
          <p:spPr>
            <a:xfrm>
              <a:off x="15963223" y="16047446"/>
              <a:ext cx="13716000" cy="655564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4000" err="1">
                  <a:solidFill>
                    <a:schemeClr val="accent5">
                      <a:lumMod val="50000"/>
                    </a:schemeClr>
                  </a:solidFill>
                  <a:latin typeface="Times New Roman"/>
                  <a:cs typeface="Times New Roman"/>
                </a:rPr>
                <a:t>Xinu</a:t>
              </a:r>
              <a:r>
                <a:rPr lang="en-US" sz="4000">
                  <a:solidFill>
                    <a:schemeClr val="accent5">
                      <a:lumMod val="50000"/>
                    </a:schemeClr>
                  </a:solidFill>
                  <a:latin typeface="Times New Roman"/>
                  <a:cs typeface="Times New Roman"/>
                </a:rPr>
                <a:t> is an Educational/Research operating system (OS)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a:cs typeface="Times New Roman"/>
                </a:rPr>
                <a:t>It runs on bare-metal platforms as opposed to virtual systems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a:cs typeface="Times New Roman"/>
                </a:rPr>
                <a:t>It is taught in many Universities across the world</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a:cs typeface="Times New Roman"/>
                </a:rPr>
                <a:t>Bare-metal teaching had advantages that can deepen student understanding</a:t>
              </a:r>
            </a:p>
            <a:p>
              <a:r>
                <a:rPr lang="en-US" sz="4000">
                  <a:solidFill>
                    <a:schemeClr val="accent5">
                      <a:lumMod val="50000"/>
                    </a:schemeClr>
                  </a:solidFill>
                  <a:latin typeface="Times New Roman"/>
                  <a:cs typeface="Times New Roman"/>
                </a:rPr>
                <a:t>As architecture and operating systems evolve it is important to keep our educational tools up to date with ports and expansions aimed at improving educational outcomes. </a:t>
              </a:r>
            </a:p>
          </p:txBody>
        </p:sp>
      </p:grpSp>
      <p:grpSp>
        <p:nvGrpSpPr>
          <p:cNvPr id="90" name="Group 89">
            <a:extLst>
              <a:ext uri="{FF2B5EF4-FFF2-40B4-BE49-F238E27FC236}">
                <a16:creationId xmlns:a16="http://schemas.microsoft.com/office/drawing/2014/main" id="{AB39F368-45FE-0F4E-EC90-1DC6009180B3}"/>
              </a:ext>
            </a:extLst>
          </p:cNvPr>
          <p:cNvGrpSpPr/>
          <p:nvPr/>
        </p:nvGrpSpPr>
        <p:grpSpPr>
          <a:xfrm>
            <a:off x="14935763" y="3644639"/>
            <a:ext cx="13716000" cy="11180979"/>
            <a:chOff x="15963223" y="14709867"/>
            <a:chExt cx="13716000" cy="11180979"/>
          </a:xfrm>
        </p:grpSpPr>
        <p:sp>
          <p:nvSpPr>
            <p:cNvPr id="91" name="TextBox 90">
              <a:extLst>
                <a:ext uri="{FF2B5EF4-FFF2-40B4-BE49-F238E27FC236}">
                  <a16:creationId xmlns:a16="http://schemas.microsoft.com/office/drawing/2014/main" id="{B099DE36-3423-7B4E-FE2C-13A4EEA50F13}"/>
                </a:ext>
              </a:extLst>
            </p:cNvPr>
            <p:cNvSpPr txBox="1">
              <a:spLocks/>
            </p:cNvSpPr>
            <p:nvPr/>
          </p:nvSpPr>
          <p:spPr>
            <a:xfrm>
              <a:off x="15963223" y="14709867"/>
              <a:ext cx="13716000" cy="1143000"/>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The Bootloader</a:t>
              </a:r>
            </a:p>
          </p:txBody>
        </p:sp>
        <p:sp>
          <p:nvSpPr>
            <p:cNvPr id="92" name="TextBox 91">
              <a:extLst>
                <a:ext uri="{FF2B5EF4-FFF2-40B4-BE49-F238E27FC236}">
                  <a16:creationId xmlns:a16="http://schemas.microsoft.com/office/drawing/2014/main" id="{5FCC5329-5DBC-9425-0158-DCCFEBA2F6A8}"/>
                </a:ext>
              </a:extLst>
            </p:cNvPr>
            <p:cNvSpPr txBox="1"/>
            <p:nvPr/>
          </p:nvSpPr>
          <p:spPr>
            <a:xfrm>
              <a:off x="15963223" y="16047446"/>
              <a:ext cx="13716000" cy="9843400"/>
            </a:xfrm>
            <a:prstGeom prst="rect">
              <a:avLst/>
            </a:prstGeom>
            <a:noFill/>
          </p:spPr>
          <p:txBody>
            <a:bodyPr wrap="square" rtlCol="0">
              <a:spAutoFit/>
            </a:bodyPr>
            <a:lstStyle/>
            <a:p>
              <a:r>
                <a:rPr lang="en-US" sz="4000" b="1">
                  <a:solidFill>
                    <a:schemeClr val="accent5">
                      <a:lumMod val="50000"/>
                    </a:schemeClr>
                  </a:solidFill>
                  <a:latin typeface="Times New Roman" panose="02020603050405020304" pitchFamily="18" charset="0"/>
                  <a:cs typeface="Times New Roman" panose="02020603050405020304" pitchFamily="18" charset="0"/>
                </a:rPr>
                <a:t>Prior work was left with some issues:</a:t>
              </a:r>
            </a:p>
            <a:p>
              <a:pPr marL="571500" indent="-571500" defTabSz="228578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Modified U-Boot image caused:</a:t>
              </a:r>
            </a:p>
            <a:p>
              <a:pPr marL="2765951" lvl="1" indent="-571500" defTabSz="228578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Mid initialization crash</a:t>
              </a:r>
            </a:p>
            <a:p>
              <a:pPr marL="2765951" lvl="1" indent="-571500" defTabSz="228578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Incorrect launch of the kernel in M-mode</a:t>
              </a:r>
            </a:p>
            <a:p>
              <a:pPr marL="2765951" lvl="1" indent="-571500" defTabSz="228578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Un-maintainable version dependency</a:t>
              </a:r>
            </a:p>
            <a:p>
              <a:pPr marL="571500" indent="-571500" defTabSz="2285780">
                <a:lnSpc>
                  <a:spcPct val="150000"/>
                </a:lnSpc>
                <a:spcBef>
                  <a:spcPts val="500"/>
                </a:spcBef>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Default U-Boot utilized unnecessary hardware features that bloated the image and booting process</a:t>
              </a:r>
            </a:p>
            <a:p>
              <a:pPr marL="571500" indent="-571500" defTabSz="2285780">
                <a:spcBef>
                  <a:spcPts val="500"/>
                </a:spcBef>
                <a:buFont typeface="Arial" panose="020B0604020202020204" pitchFamily="34" charset="0"/>
                <a:buChar char="•"/>
              </a:pPr>
              <a:endParaRPr lang="en-US" sz="4000">
                <a:solidFill>
                  <a:schemeClr val="accent5">
                    <a:lumMod val="50000"/>
                  </a:schemeClr>
                </a:solidFill>
                <a:latin typeface="Times New Roman" panose="02020603050405020304" pitchFamily="18" charset="0"/>
                <a:cs typeface="Times New Roman" panose="02020603050405020304" pitchFamily="18" charset="0"/>
              </a:endParaRPr>
            </a:p>
            <a:p>
              <a:pPr>
                <a:spcBef>
                  <a:spcPts val="500"/>
                </a:spcBef>
              </a:pPr>
              <a:r>
                <a:rPr lang="en-US" sz="4000" b="1">
                  <a:solidFill>
                    <a:schemeClr val="accent5">
                      <a:lumMod val="50000"/>
                    </a:schemeClr>
                  </a:solidFill>
                  <a:latin typeface="Times New Roman" panose="02020603050405020304" pitchFamily="18" charset="0"/>
                  <a:cs typeface="Times New Roman" panose="02020603050405020304" pitchFamily="18" charset="0"/>
                </a:rPr>
                <a:t>To address these issues, we:</a:t>
              </a:r>
            </a:p>
            <a:p>
              <a:pPr marL="571500" indent="-571500">
                <a:lnSpc>
                  <a:spcPct val="150000"/>
                </a:lnSpc>
                <a:spcBef>
                  <a:spcPts val="500"/>
                </a:spcBef>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Rebuilt U-Boot image from scratch</a:t>
              </a:r>
            </a:p>
            <a:p>
              <a:pPr marL="571500" indent="-571500">
                <a:lnSpc>
                  <a:spcPct val="150000"/>
                </a:lnSpc>
                <a:spcBef>
                  <a:spcPts val="500"/>
                </a:spcBef>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Implemented custom U-Boot SPL assembly code</a:t>
              </a:r>
            </a:p>
          </p:txBody>
        </p:sp>
      </p:grpSp>
      <p:grpSp>
        <p:nvGrpSpPr>
          <p:cNvPr id="93" name="Group 92">
            <a:extLst>
              <a:ext uri="{FF2B5EF4-FFF2-40B4-BE49-F238E27FC236}">
                <a16:creationId xmlns:a16="http://schemas.microsoft.com/office/drawing/2014/main" id="{D0A7C7FC-2701-50E6-9E97-A8C4030443C9}"/>
              </a:ext>
            </a:extLst>
          </p:cNvPr>
          <p:cNvGrpSpPr/>
          <p:nvPr/>
        </p:nvGrpSpPr>
        <p:grpSpPr>
          <a:xfrm>
            <a:off x="29384625" y="3644639"/>
            <a:ext cx="13716000" cy="11783708"/>
            <a:chOff x="15963223" y="14709867"/>
            <a:chExt cx="13716000" cy="11783708"/>
          </a:xfrm>
        </p:grpSpPr>
        <p:sp>
          <p:nvSpPr>
            <p:cNvPr id="94" name="TextBox 93">
              <a:extLst>
                <a:ext uri="{FF2B5EF4-FFF2-40B4-BE49-F238E27FC236}">
                  <a16:creationId xmlns:a16="http://schemas.microsoft.com/office/drawing/2014/main" id="{98831C3C-90AD-C2CD-E2DB-D37D03AC17EE}"/>
                </a:ext>
              </a:extLst>
            </p:cNvPr>
            <p:cNvSpPr txBox="1">
              <a:spLocks/>
            </p:cNvSpPr>
            <p:nvPr/>
          </p:nvSpPr>
          <p:spPr>
            <a:xfrm>
              <a:off x="15963223" y="14709867"/>
              <a:ext cx="13716000" cy="1143000"/>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Results</a:t>
              </a:r>
            </a:p>
          </p:txBody>
        </p:sp>
        <p:sp>
          <p:nvSpPr>
            <p:cNvPr id="95" name="TextBox 94">
              <a:extLst>
                <a:ext uri="{FF2B5EF4-FFF2-40B4-BE49-F238E27FC236}">
                  <a16:creationId xmlns:a16="http://schemas.microsoft.com/office/drawing/2014/main" id="{1B7E8C9F-E5DA-E9BE-123E-012B30CEA405}"/>
                </a:ext>
              </a:extLst>
            </p:cNvPr>
            <p:cNvSpPr txBox="1"/>
            <p:nvPr/>
          </p:nvSpPr>
          <p:spPr>
            <a:xfrm>
              <a:off x="15963223" y="16047446"/>
              <a:ext cx="13716000" cy="10446129"/>
            </a:xfrm>
            <a:prstGeom prst="rect">
              <a:avLst/>
            </a:prstGeom>
            <a:noFill/>
          </p:spPr>
          <p:txBody>
            <a:bodyPr wrap="square" rtlCol="0">
              <a:spAutoFit/>
            </a:bodyPr>
            <a:lstStyle/>
            <a:p>
              <a:pPr algn="just"/>
              <a:r>
                <a:rPr lang="en-US" sz="4000" b="1">
                  <a:solidFill>
                    <a:schemeClr val="accent5">
                      <a:lumMod val="50000"/>
                    </a:schemeClr>
                  </a:solidFill>
                  <a:latin typeface="Times New Roman" panose="02020603050405020304" pitchFamily="18" charset="0"/>
                  <a:cs typeface="Times New Roman" panose="02020603050405020304" pitchFamily="18" charset="0"/>
                </a:rPr>
                <a:t>With the changes made during research, RISC-V Xinu matches specification with improved booting. This provides: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 simpler control flow between privilege modes</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Allowing students an easier conception of this complicated topic</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 stable bootloader configuration with:</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Reduced boot times (~20 sec)</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Stable &amp; hardcoded MAC addresses</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Reduced need for firmware maintenance</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Kernel works to RISC-V specification</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Kernel independent of M-mode</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Eliminated most timer skew</a:t>
              </a:r>
            </a:p>
          </p:txBody>
        </p:sp>
      </p:grpSp>
      <p:grpSp>
        <p:nvGrpSpPr>
          <p:cNvPr id="96" name="Group 95">
            <a:extLst>
              <a:ext uri="{FF2B5EF4-FFF2-40B4-BE49-F238E27FC236}">
                <a16:creationId xmlns:a16="http://schemas.microsoft.com/office/drawing/2014/main" id="{5EFD2526-71E8-A4D0-2C8C-A16BC0F3A804}"/>
              </a:ext>
            </a:extLst>
          </p:cNvPr>
          <p:cNvGrpSpPr/>
          <p:nvPr/>
        </p:nvGrpSpPr>
        <p:grpSpPr>
          <a:xfrm>
            <a:off x="486902" y="27622312"/>
            <a:ext cx="13716000" cy="3353515"/>
            <a:chOff x="15963223" y="17283724"/>
            <a:chExt cx="13716000" cy="3353515"/>
          </a:xfrm>
        </p:grpSpPr>
        <p:sp>
          <p:nvSpPr>
            <p:cNvPr id="97" name="TextBox 96">
              <a:extLst>
                <a:ext uri="{FF2B5EF4-FFF2-40B4-BE49-F238E27FC236}">
                  <a16:creationId xmlns:a16="http://schemas.microsoft.com/office/drawing/2014/main" id="{9E33E4E9-8157-DD3B-CC6A-0B0EEA511ABC}"/>
                </a:ext>
              </a:extLst>
            </p:cNvPr>
            <p:cNvSpPr txBox="1">
              <a:spLocks/>
            </p:cNvSpPr>
            <p:nvPr/>
          </p:nvSpPr>
          <p:spPr>
            <a:xfrm>
              <a:off x="15963223" y="17283724"/>
              <a:ext cx="13716000" cy="1143000"/>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References</a:t>
              </a:r>
            </a:p>
          </p:txBody>
        </p:sp>
        <p:sp>
          <p:nvSpPr>
            <p:cNvPr id="98" name="TextBox 97">
              <a:extLst>
                <a:ext uri="{FF2B5EF4-FFF2-40B4-BE49-F238E27FC236}">
                  <a16:creationId xmlns:a16="http://schemas.microsoft.com/office/drawing/2014/main" id="{0F5AE32C-751C-F9EB-16D0-0AED694DCF2A}"/>
                </a:ext>
              </a:extLst>
            </p:cNvPr>
            <p:cNvSpPr txBox="1"/>
            <p:nvPr/>
          </p:nvSpPr>
          <p:spPr>
            <a:xfrm>
              <a:off x="15963223" y="18621303"/>
              <a:ext cx="13716000" cy="2015936"/>
            </a:xfrm>
            <a:prstGeom prst="rect">
              <a:avLst/>
            </a:prstGeom>
            <a:noFill/>
          </p:spPr>
          <p:txBody>
            <a:bodyPr wrap="square" rtlCol="0">
              <a:spAutoFit/>
            </a:bodyPr>
            <a:lstStyle/>
            <a:p>
              <a:r>
                <a:rPr lang="en-US" sz="2500">
                  <a:solidFill>
                    <a:schemeClr val="accent5">
                      <a:lumMod val="50000"/>
                    </a:schemeClr>
                  </a:solidFill>
                  <a:latin typeface="Times New Roman"/>
                  <a:cs typeface="Times New Roman"/>
                </a:rPr>
                <a:t>[1] AWOL. "D1-H Development Board — Nezha." AWOL Documentation. </a:t>
              </a:r>
              <a:r>
                <a:rPr lang="en-US" sz="2500">
                  <a:solidFill>
                    <a:schemeClr val="accent5">
                      <a:lumMod val="50000"/>
                    </a:schemeClr>
                  </a:solidFill>
                  <a:latin typeface="Times New Roman"/>
                  <a:cs typeface="Times New Roman"/>
                  <a:hlinkClick r:id="rId11">
                    <a:extLst>
                      <a:ext uri="{A12FA001-AC4F-418D-AE19-62706E023703}">
                        <ahyp:hlinkClr xmlns:ahyp="http://schemas.microsoft.com/office/drawing/2018/hyperlinkcolor" val="tx"/>
                      </a:ext>
                    </a:extLst>
                  </a:hlinkClick>
                </a:rPr>
                <a:t>https://docs.aw-ol.com/d1/en/d1_dev/</a:t>
              </a:r>
              <a:endParaRPr lang="en-US" sz="2500">
                <a:solidFill>
                  <a:schemeClr val="accent5">
                    <a:lumMod val="50000"/>
                  </a:schemeClr>
                </a:solidFill>
                <a:latin typeface="Times New Roman"/>
                <a:cs typeface="Times New Roman"/>
              </a:endParaRPr>
            </a:p>
            <a:p>
              <a:endParaRPr lang="en-US" sz="2500">
                <a:solidFill>
                  <a:schemeClr val="accent5">
                    <a:lumMod val="50000"/>
                  </a:schemeClr>
                </a:solidFill>
                <a:latin typeface="Times New Roman"/>
                <a:cs typeface="Times New Roman"/>
              </a:endParaRPr>
            </a:p>
            <a:p>
              <a:r>
                <a:rPr lang="en-US" sz="2500">
                  <a:solidFill>
                    <a:schemeClr val="accent5">
                      <a:lumMod val="50000"/>
                    </a:schemeClr>
                  </a:solidFill>
                </a:rPr>
                <a:t>[2] Pillai, Vysakh P. "Exploring Virtualization in RISC-V Machines." </a:t>
              </a:r>
              <a:r>
                <a:rPr lang="en-US" sz="2500" err="1">
                  <a:solidFill>
                    <a:schemeClr val="accent5">
                      <a:lumMod val="50000"/>
                    </a:schemeClr>
                  </a:solidFill>
                </a:rPr>
                <a:t>embeddedinn</a:t>
              </a:r>
              <a:r>
                <a:rPr lang="en-US" sz="2500">
                  <a:solidFill>
                    <a:schemeClr val="accent5">
                      <a:lumMod val="50000"/>
                    </a:schemeClr>
                  </a:solidFill>
                </a:rPr>
                <a:t>. May 30, 2021. https://</a:t>
              </a:r>
              <a:r>
                <a:rPr lang="en-US" sz="2500" err="1">
                  <a:solidFill>
                    <a:schemeClr val="accent5">
                      <a:lumMod val="50000"/>
                    </a:schemeClr>
                  </a:solidFill>
                </a:rPr>
                <a:t>www.embeddedinn.com</a:t>
              </a:r>
              <a:r>
                <a:rPr lang="en-US" sz="2500">
                  <a:solidFill>
                    <a:schemeClr val="accent5">
                      <a:lumMod val="50000"/>
                    </a:schemeClr>
                  </a:solidFill>
                </a:rPr>
                <a:t>/articles/tutorial/</a:t>
              </a:r>
              <a:r>
                <a:rPr lang="en-US" sz="2500" err="1">
                  <a:solidFill>
                    <a:schemeClr val="accent5">
                      <a:lumMod val="50000"/>
                    </a:schemeClr>
                  </a:solidFill>
                </a:rPr>
                <a:t>exploring_virtualization_in_riscv_machines</a:t>
              </a:r>
              <a:r>
                <a:rPr lang="en-US" sz="2500">
                  <a:solidFill>
                    <a:schemeClr val="accent5">
                      <a:lumMod val="50000"/>
                    </a:schemeClr>
                  </a:solidFill>
                </a:rPr>
                <a:t>/.</a:t>
              </a:r>
            </a:p>
          </p:txBody>
        </p:sp>
      </p:grpSp>
      <p:grpSp>
        <p:nvGrpSpPr>
          <p:cNvPr id="101" name="Group 100">
            <a:extLst>
              <a:ext uri="{FF2B5EF4-FFF2-40B4-BE49-F238E27FC236}">
                <a16:creationId xmlns:a16="http://schemas.microsoft.com/office/drawing/2014/main" id="{E8CFFE1B-2AE4-4D20-2A10-4C3D6AF6EA32}"/>
              </a:ext>
            </a:extLst>
          </p:cNvPr>
          <p:cNvGrpSpPr>
            <a:grpSpLocks/>
          </p:cNvGrpSpPr>
          <p:nvPr/>
        </p:nvGrpSpPr>
        <p:grpSpPr>
          <a:xfrm>
            <a:off x="477825" y="17490684"/>
            <a:ext cx="13716000" cy="9937049"/>
            <a:chOff x="15963223" y="14709867"/>
            <a:chExt cx="13716000" cy="9937049"/>
          </a:xfrm>
        </p:grpSpPr>
        <p:sp>
          <p:nvSpPr>
            <p:cNvPr id="102" name="TextBox 101">
              <a:extLst>
                <a:ext uri="{FF2B5EF4-FFF2-40B4-BE49-F238E27FC236}">
                  <a16:creationId xmlns:a16="http://schemas.microsoft.com/office/drawing/2014/main" id="{187079D2-5D03-C603-9542-2C1F72C80B41}"/>
                </a:ext>
              </a:extLst>
            </p:cNvPr>
            <p:cNvSpPr txBox="1">
              <a:spLocks/>
            </p:cNvSpPr>
            <p:nvPr/>
          </p:nvSpPr>
          <p:spPr>
            <a:xfrm>
              <a:off x="15963223" y="14709867"/>
              <a:ext cx="13716000" cy="1143000"/>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The Problem</a:t>
              </a:r>
            </a:p>
          </p:txBody>
        </p:sp>
        <p:sp>
          <p:nvSpPr>
            <p:cNvPr id="103" name="TextBox 102">
              <a:extLst>
                <a:ext uri="{FF2B5EF4-FFF2-40B4-BE49-F238E27FC236}">
                  <a16:creationId xmlns:a16="http://schemas.microsoft.com/office/drawing/2014/main" id="{01E8B982-C9D9-834E-3A08-7376720AA37E}"/>
                </a:ext>
              </a:extLst>
            </p:cNvPr>
            <p:cNvSpPr txBox="1"/>
            <p:nvPr/>
          </p:nvSpPr>
          <p:spPr>
            <a:xfrm>
              <a:off x="15963223" y="16047446"/>
              <a:ext cx="13716000" cy="8599470"/>
            </a:xfrm>
            <a:prstGeom prst="rect">
              <a:avLst/>
            </a:prstGeom>
            <a:noFill/>
          </p:spPr>
          <p:txBody>
            <a:bodyPr wrap="square" rtlCol="0">
              <a:spAutoFit/>
            </a:bodyPr>
            <a:lstStyle/>
            <a:p>
              <a:pPr algn="just"/>
              <a:r>
                <a:rPr lang="en-US" sz="4000" b="1">
                  <a:solidFill>
                    <a:schemeClr val="accent5">
                      <a:lumMod val="50000"/>
                    </a:schemeClr>
                  </a:solidFill>
                  <a:latin typeface="Times New Roman" panose="02020603050405020304" pitchFamily="18" charset="0"/>
                  <a:cs typeface="Times New Roman" panose="02020603050405020304" pitchFamily="18" charset="0"/>
                </a:rPr>
                <a:t>Motivations to switch to RISC-V architecture:</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Easy memory protection</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Simplified privilege scheme</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Highly intentional interrupt schemes</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Top-down design</a:t>
              </a:r>
            </a:p>
            <a:p>
              <a:pPr algn="just"/>
              <a:r>
                <a:rPr lang="en-US" sz="4000" b="1">
                  <a:solidFill>
                    <a:schemeClr val="accent5">
                      <a:lumMod val="50000"/>
                    </a:schemeClr>
                  </a:solidFill>
                  <a:latin typeface="Times New Roman" panose="02020603050405020304" pitchFamily="18" charset="0"/>
                  <a:cs typeface="Times New Roman" panose="02020603050405020304" pitchFamily="18" charset="0"/>
                </a:rPr>
                <a:t>Problems with current implementation:</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The security of RISC-V’s new protection model was thwarted</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The modified bootloader was left in a fragile state, easily broken by future updates</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Memory protection dysfunctional</a:t>
              </a:r>
            </a:p>
          </p:txBody>
        </p:sp>
      </p:grpSp>
      <p:grpSp>
        <p:nvGrpSpPr>
          <p:cNvPr id="104" name="Group 103">
            <a:extLst>
              <a:ext uri="{FF2B5EF4-FFF2-40B4-BE49-F238E27FC236}">
                <a16:creationId xmlns:a16="http://schemas.microsoft.com/office/drawing/2014/main" id="{DA6AF457-3E68-46E3-ABC4-BDCF9B0ECD60}"/>
              </a:ext>
            </a:extLst>
          </p:cNvPr>
          <p:cNvGrpSpPr/>
          <p:nvPr/>
        </p:nvGrpSpPr>
        <p:grpSpPr>
          <a:xfrm>
            <a:off x="14935763" y="18280430"/>
            <a:ext cx="13716000" cy="6245554"/>
            <a:chOff x="15963223" y="14709866"/>
            <a:chExt cx="13716000" cy="6237046"/>
          </a:xfrm>
        </p:grpSpPr>
        <p:sp>
          <p:nvSpPr>
            <p:cNvPr id="105" name="TextBox 104">
              <a:extLst>
                <a:ext uri="{FF2B5EF4-FFF2-40B4-BE49-F238E27FC236}">
                  <a16:creationId xmlns:a16="http://schemas.microsoft.com/office/drawing/2014/main" id="{A98816F8-823A-63E0-F328-DE76804EBD33}"/>
                </a:ext>
              </a:extLst>
            </p:cNvPr>
            <p:cNvSpPr txBox="1">
              <a:spLocks/>
            </p:cNvSpPr>
            <p:nvPr/>
          </p:nvSpPr>
          <p:spPr>
            <a:xfrm>
              <a:off x="15963223" y="14709866"/>
              <a:ext cx="13716000" cy="1141443"/>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The Kernel</a:t>
              </a:r>
            </a:p>
          </p:txBody>
        </p:sp>
        <p:sp>
          <p:nvSpPr>
            <p:cNvPr id="106" name="TextBox 105">
              <a:extLst>
                <a:ext uri="{FF2B5EF4-FFF2-40B4-BE49-F238E27FC236}">
                  <a16:creationId xmlns:a16="http://schemas.microsoft.com/office/drawing/2014/main" id="{33912FDD-CBBD-7B6F-EEA0-F8EE79F111E9}"/>
                </a:ext>
              </a:extLst>
            </p:cNvPr>
            <p:cNvSpPr txBox="1"/>
            <p:nvPr/>
          </p:nvSpPr>
          <p:spPr>
            <a:xfrm>
              <a:off x="15963223" y="16047446"/>
              <a:ext cx="13716000" cy="4899466"/>
            </a:xfrm>
            <a:prstGeom prst="rect">
              <a:avLst/>
            </a:prstGeom>
            <a:noFill/>
          </p:spPr>
          <p:txBody>
            <a:bodyPr wrap="square" rtlCol="0">
              <a:spAutoFit/>
            </a:bodyPr>
            <a:lstStyle/>
            <a:p>
              <a:pPr algn="just"/>
              <a:r>
                <a:rPr lang="en-US" sz="4000" b="1">
                  <a:solidFill>
                    <a:schemeClr val="accent5">
                      <a:lumMod val="50000"/>
                    </a:schemeClr>
                  </a:solidFill>
                  <a:latin typeface="Times New Roman" panose="02020603050405020304" pitchFamily="18" charset="0"/>
                  <a:cs typeface="Times New Roman" panose="02020603050405020304" pitchFamily="18" charset="0"/>
                </a:rPr>
                <a:t>With the bootloader working to specification, the following changes were made to the kernel:</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Assembly commands utilized S-mode counterparts</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M-mode control flow now nestled entirely in S-mode</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Interrupt control preserves configuration</a:t>
              </a:r>
            </a:p>
            <a:p>
              <a:pPr marL="571500" indent="-571500" algn="just">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Timer interrupts changed to be cyclic</a:t>
              </a:r>
            </a:p>
          </p:txBody>
        </p:sp>
      </p:grpSp>
      <p:grpSp>
        <p:nvGrpSpPr>
          <p:cNvPr id="107" name="Group 106">
            <a:extLst>
              <a:ext uri="{FF2B5EF4-FFF2-40B4-BE49-F238E27FC236}">
                <a16:creationId xmlns:a16="http://schemas.microsoft.com/office/drawing/2014/main" id="{D362C61D-F272-F01F-A723-9C5115C30C91}"/>
              </a:ext>
            </a:extLst>
          </p:cNvPr>
          <p:cNvGrpSpPr/>
          <p:nvPr/>
        </p:nvGrpSpPr>
        <p:grpSpPr>
          <a:xfrm>
            <a:off x="29393701" y="15599559"/>
            <a:ext cx="13725076" cy="16662338"/>
            <a:chOff x="15799420" y="16684654"/>
            <a:chExt cx="13725076" cy="16662338"/>
          </a:xfrm>
        </p:grpSpPr>
        <p:sp>
          <p:nvSpPr>
            <p:cNvPr id="108" name="TextBox 107">
              <a:extLst>
                <a:ext uri="{FF2B5EF4-FFF2-40B4-BE49-F238E27FC236}">
                  <a16:creationId xmlns:a16="http://schemas.microsoft.com/office/drawing/2014/main" id="{EC9A1801-D9BB-41AC-8FBE-76E1BC59E2DB}"/>
                </a:ext>
              </a:extLst>
            </p:cNvPr>
            <p:cNvSpPr txBox="1">
              <a:spLocks/>
            </p:cNvSpPr>
            <p:nvPr/>
          </p:nvSpPr>
          <p:spPr>
            <a:xfrm>
              <a:off x="15799420" y="16684654"/>
              <a:ext cx="13716000" cy="1038582"/>
            </a:xfrm>
            <a:prstGeom prst="roundRect">
              <a:avLst/>
            </a:prstGeom>
            <a:solidFill>
              <a:schemeClr val="accent1">
                <a:lumMod val="50000"/>
              </a:schemeClr>
            </a:solidFill>
          </p:spPr>
          <p:txBody>
            <a:bodyPr wrap="square" rtlCol="0">
              <a:spAutoFit/>
            </a:bodyPr>
            <a:lstStyle/>
            <a:p>
              <a:pPr algn="ctr"/>
              <a:r>
                <a:rPr lang="en-US" sz="5500" b="1">
                  <a:solidFill>
                    <a:schemeClr val="bg1"/>
                  </a:solidFill>
                  <a:cs typeface="Calibri" panose="020F0502020204030204" pitchFamily="34" charset="0"/>
                </a:rPr>
                <a:t>Future Work</a:t>
              </a:r>
            </a:p>
          </p:txBody>
        </p:sp>
        <p:sp>
          <p:nvSpPr>
            <p:cNvPr id="109" name="TextBox 108">
              <a:extLst>
                <a:ext uri="{FF2B5EF4-FFF2-40B4-BE49-F238E27FC236}">
                  <a16:creationId xmlns:a16="http://schemas.microsoft.com/office/drawing/2014/main" id="{5ABBA8E2-44FA-BF8B-4613-DEB730542661}"/>
                </a:ext>
              </a:extLst>
            </p:cNvPr>
            <p:cNvSpPr txBox="1"/>
            <p:nvPr/>
          </p:nvSpPr>
          <p:spPr>
            <a:xfrm>
              <a:off x="15912244" y="17976438"/>
              <a:ext cx="13612252" cy="15370554"/>
            </a:xfrm>
            <a:prstGeom prst="rect">
              <a:avLst/>
            </a:prstGeom>
            <a:noFill/>
          </p:spPr>
          <p:txBody>
            <a:bodyPr wrap="square" rtlCol="0">
              <a:spAutoFit/>
            </a:bodyPr>
            <a:lstStyle/>
            <a:p>
              <a:r>
                <a:rPr lang="en-US" sz="4000" b="1">
                  <a:solidFill>
                    <a:schemeClr val="accent5">
                      <a:lumMod val="50000"/>
                    </a:schemeClr>
                  </a:solidFill>
                  <a:latin typeface="Times New Roman" panose="02020603050405020304" pitchFamily="18" charset="0"/>
                  <a:cs typeface="Times New Roman" panose="02020603050405020304" pitchFamily="18" charset="0"/>
                </a:rPr>
                <a:t>Completing this work opens the door for research and course assignments in the following areas: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Atomic operations &amp; locking</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Messaging &amp; system buffers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Timekeeping &amp; preemption</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Asynchronous operations</a:t>
              </a:r>
            </a:p>
            <a:p>
              <a:pPr marL="571500" indent="-571500">
                <a:buFont typeface="Arial" panose="020B0604020202020204" pitchFamily="34" charset="0"/>
                <a:buChar char="•"/>
              </a:pPr>
              <a:endParaRPr lang="en-US" sz="4000">
                <a:solidFill>
                  <a:schemeClr val="accent5">
                    <a:lumMod val="50000"/>
                  </a:schemeClr>
                </a:solidFill>
                <a:latin typeface="Times New Roman" panose="02020603050405020304" pitchFamily="18" charset="0"/>
                <a:cs typeface="Times New Roman" panose="02020603050405020304" pitchFamily="18" charset="0"/>
              </a:endParaRPr>
            </a:p>
            <a:p>
              <a:r>
                <a:rPr lang="en-US" sz="4000" b="1">
                  <a:solidFill>
                    <a:schemeClr val="accent5">
                      <a:lumMod val="50000"/>
                    </a:schemeClr>
                  </a:solidFill>
                  <a:latin typeface="Times New Roman" panose="02020603050405020304" pitchFamily="18" charset="0"/>
                  <a:cs typeface="Times New Roman" panose="02020603050405020304" pitchFamily="18" charset="0"/>
                </a:rPr>
                <a:t>Projects students could get hands on experience with:</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Asynchronous serial port drivers</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Using buffers, semaphores &amp; interrupt control</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The Xinu shell</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Using Async serial ports and processes</a:t>
              </a:r>
            </a:p>
            <a:p>
              <a:pPr marL="571500"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Pseudo Filesystem I/O</a:t>
              </a:r>
            </a:p>
            <a:p>
              <a:pPr marL="2765951" lvl="1" indent="-571500">
                <a:lnSpc>
                  <a:spcPct val="150000"/>
                </a:lnSpc>
                <a:buFont typeface="Arial" panose="020B0604020202020204" pitchFamily="34" charset="0"/>
                <a:buChar char="•"/>
              </a:pPr>
              <a:r>
                <a:rPr lang="en-US" sz="4000">
                  <a:solidFill>
                    <a:schemeClr val="accent5">
                      <a:lumMod val="50000"/>
                    </a:schemeClr>
                  </a:solidFill>
                  <a:latin typeface="Times New Roman" panose="02020603050405020304" pitchFamily="18" charset="0"/>
                  <a:cs typeface="Times New Roman" panose="02020603050405020304" pitchFamily="18" charset="0"/>
                </a:rPr>
                <a:t>Using 2</a:t>
              </a:r>
              <a:r>
                <a:rPr lang="en-US" sz="4000" baseline="30000">
                  <a:solidFill>
                    <a:schemeClr val="accent5">
                      <a:lumMod val="50000"/>
                    </a:schemeClr>
                  </a:solidFill>
                  <a:latin typeface="Times New Roman" panose="02020603050405020304" pitchFamily="18" charset="0"/>
                  <a:cs typeface="Times New Roman" panose="02020603050405020304" pitchFamily="18" charset="0"/>
                </a:rPr>
                <a:t>nd</a:t>
              </a:r>
              <a:r>
                <a:rPr lang="en-US" sz="4000">
                  <a:solidFill>
                    <a:schemeClr val="accent5">
                      <a:lumMod val="50000"/>
                    </a:schemeClr>
                  </a:solidFill>
                  <a:latin typeface="Times New Roman" panose="02020603050405020304" pitchFamily="18" charset="0"/>
                  <a:cs typeface="Times New Roman" panose="02020603050405020304" pitchFamily="18" charset="0"/>
                </a:rPr>
                <a:t> serial port &amp; above additions</a:t>
              </a:r>
            </a:p>
            <a:p>
              <a:endParaRPr lang="en-US" sz="4000">
                <a:solidFill>
                  <a:schemeClr val="accent5">
                    <a:lumMod val="50000"/>
                  </a:schemeClr>
                </a:solidFill>
                <a:latin typeface="Times New Roman" panose="02020603050405020304" pitchFamily="18" charset="0"/>
                <a:cs typeface="Times New Roman" panose="02020603050405020304" pitchFamily="18" charset="0"/>
              </a:endParaRPr>
            </a:p>
            <a:p>
              <a:pPr>
                <a:lnSpc>
                  <a:spcPct val="150000"/>
                </a:lnSpc>
              </a:pPr>
              <a:r>
                <a:rPr lang="en-US" sz="4000">
                  <a:solidFill>
                    <a:schemeClr val="accent5">
                      <a:lumMod val="50000"/>
                    </a:schemeClr>
                  </a:solidFill>
                  <a:latin typeface="Times New Roman" panose="02020603050405020304" pitchFamily="18" charset="0"/>
                  <a:cs typeface="Times New Roman" panose="02020603050405020304" pitchFamily="18" charset="0"/>
                </a:rPr>
                <a:t>Changes are currently live in Marquette’s Operating Systems Course, with 70 students. Differences in academic performance will be measured at the end of Spring Semester 2026.</a:t>
              </a:r>
            </a:p>
          </p:txBody>
        </p:sp>
      </p:grpSp>
      <p:pic>
        <p:nvPicPr>
          <p:cNvPr id="6" name="Picture 5" descr="A blue and yellow logo&#10;&#10;AI-generated content may be incorrect.">
            <a:extLst>
              <a:ext uri="{FF2B5EF4-FFF2-40B4-BE49-F238E27FC236}">
                <a16:creationId xmlns:a16="http://schemas.microsoft.com/office/drawing/2014/main" id="{89AB4416-6697-5E99-9964-0B2BEEF6A05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7825" y="145392"/>
            <a:ext cx="3332183" cy="2479015"/>
          </a:xfrm>
          <a:prstGeom prst="rect">
            <a:avLst/>
          </a:prstGeom>
        </p:spPr>
      </p:pic>
      <p:grpSp>
        <p:nvGrpSpPr>
          <p:cNvPr id="8" name="Group 7">
            <a:extLst>
              <a:ext uri="{FF2B5EF4-FFF2-40B4-BE49-F238E27FC236}">
                <a16:creationId xmlns:a16="http://schemas.microsoft.com/office/drawing/2014/main" id="{ABE95FDD-3E22-68CF-DC07-04D906D449F9}"/>
              </a:ext>
            </a:extLst>
          </p:cNvPr>
          <p:cNvGrpSpPr/>
          <p:nvPr/>
        </p:nvGrpSpPr>
        <p:grpSpPr>
          <a:xfrm>
            <a:off x="14935763" y="24756175"/>
            <a:ext cx="13434083" cy="7100268"/>
            <a:chOff x="14935763" y="24756175"/>
            <a:chExt cx="13434083" cy="7100268"/>
          </a:xfrm>
        </p:grpSpPr>
        <p:pic>
          <p:nvPicPr>
            <p:cNvPr id="5" name="Picture 4">
              <a:extLst>
                <a:ext uri="{FF2B5EF4-FFF2-40B4-BE49-F238E27FC236}">
                  <a16:creationId xmlns:a16="http://schemas.microsoft.com/office/drawing/2014/main" id="{A61F215C-3BCC-5EB0-6F40-9DED2CA87E9C}"/>
                </a:ext>
              </a:extLst>
            </p:cNvPr>
            <p:cNvPicPr>
              <a:picLocks noChangeAspect="1"/>
            </p:cNvPicPr>
            <p:nvPr/>
          </p:nvPicPr>
          <p:blipFill>
            <a:blip r:embed="rId13">
              <a:extLst>
                <a:ext uri="{28A0092B-C50C-407E-A947-70E740481C1C}">
                  <a14:useLocalDpi xmlns:a14="http://schemas.microsoft.com/office/drawing/2010/main" val="0"/>
                </a:ext>
              </a:extLst>
            </a:blip>
            <a:srcRect l="-173" t="-1403" r="31599" b="32500"/>
            <a:stretch>
              <a:fillRect/>
            </a:stretch>
          </p:blipFill>
          <p:spPr>
            <a:xfrm>
              <a:off x="14935763" y="24756175"/>
              <a:ext cx="13434083" cy="6433237"/>
            </a:xfrm>
            <a:prstGeom prst="rect">
              <a:avLst/>
            </a:prstGeom>
          </p:spPr>
        </p:pic>
        <p:sp>
          <p:nvSpPr>
            <p:cNvPr id="2" name="TextBox 1">
              <a:extLst>
                <a:ext uri="{FF2B5EF4-FFF2-40B4-BE49-F238E27FC236}">
                  <a16:creationId xmlns:a16="http://schemas.microsoft.com/office/drawing/2014/main" id="{D8E85B32-3F95-7636-932C-585DE1A5F9DB}"/>
                </a:ext>
              </a:extLst>
            </p:cNvPr>
            <p:cNvSpPr txBox="1"/>
            <p:nvPr/>
          </p:nvSpPr>
          <p:spPr>
            <a:xfrm>
              <a:off x="16302054" y="31225501"/>
              <a:ext cx="10701499" cy="630942"/>
            </a:xfrm>
            <a:prstGeom prst="rect">
              <a:avLst/>
            </a:prstGeom>
            <a:noFill/>
          </p:spPr>
          <p:txBody>
            <a:bodyPr wrap="square" rtlCol="0">
              <a:spAutoFit/>
            </a:bodyPr>
            <a:lstStyle/>
            <a:p>
              <a:pPr algn="ctr"/>
              <a:r>
                <a:rPr lang="en-US" sz="3500">
                  <a:latin typeface="Times New Roman" panose="02020603050405020304" pitchFamily="18" charset="0"/>
                  <a:cs typeface="Times New Roman" panose="02020603050405020304" pitchFamily="18" charset="0"/>
                </a:rPr>
                <a:t>Figure 3: RISC-V Privilege Level Scheme Diagram [2]</a:t>
              </a:r>
            </a:p>
          </p:txBody>
        </p:sp>
      </p:grpSp>
      <p:grpSp>
        <p:nvGrpSpPr>
          <p:cNvPr id="14" name="Group 13">
            <a:extLst>
              <a:ext uri="{FF2B5EF4-FFF2-40B4-BE49-F238E27FC236}">
                <a16:creationId xmlns:a16="http://schemas.microsoft.com/office/drawing/2014/main" id="{EB603CF4-6172-DEFB-71A5-8FD8E32C74C9}"/>
              </a:ext>
            </a:extLst>
          </p:cNvPr>
          <p:cNvGrpSpPr/>
          <p:nvPr/>
        </p:nvGrpSpPr>
        <p:grpSpPr>
          <a:xfrm>
            <a:off x="39667807" y="84969"/>
            <a:ext cx="3613591" cy="2729600"/>
            <a:chOff x="39667807" y="84969"/>
            <a:chExt cx="3613591" cy="2729600"/>
          </a:xfrm>
        </p:grpSpPr>
        <p:pic>
          <p:nvPicPr>
            <p:cNvPr id="4" name="Picture 3" descr="A qr code on a white background&#10;&#10;AI-generated content may be incorrect.">
              <a:extLst>
                <a:ext uri="{FF2B5EF4-FFF2-40B4-BE49-F238E27FC236}">
                  <a16:creationId xmlns:a16="http://schemas.microsoft.com/office/drawing/2014/main" id="{C3DCECC3-5A1F-4461-CD15-AD36599CCC2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0117085" y="84969"/>
              <a:ext cx="2729600" cy="2729600"/>
            </a:xfrm>
            <a:prstGeom prst="rect">
              <a:avLst/>
            </a:prstGeom>
          </p:spPr>
        </p:pic>
        <p:sp>
          <p:nvSpPr>
            <p:cNvPr id="7" name="TextBox 6">
              <a:extLst>
                <a:ext uri="{FF2B5EF4-FFF2-40B4-BE49-F238E27FC236}">
                  <a16:creationId xmlns:a16="http://schemas.microsoft.com/office/drawing/2014/main" id="{366E791C-5A40-9D18-CB55-7E54ADB5A99C}"/>
                </a:ext>
              </a:extLst>
            </p:cNvPr>
            <p:cNvSpPr txBox="1"/>
            <p:nvPr/>
          </p:nvSpPr>
          <p:spPr>
            <a:xfrm rot="16200000">
              <a:off x="38725776" y="1126603"/>
              <a:ext cx="2530394" cy="646331"/>
            </a:xfrm>
            <a:prstGeom prst="rect">
              <a:avLst/>
            </a:prstGeom>
            <a:noFill/>
          </p:spPr>
          <p:txBody>
            <a:bodyPr wrap="square" rtlCol="0">
              <a:spAutoFit/>
            </a:bodyPr>
            <a:lstStyle/>
            <a:p>
              <a:pPr algn="ctr"/>
              <a:r>
                <a:rPr lang="en-US" sz="3600" b="1">
                  <a:solidFill>
                    <a:schemeClr val="accent5">
                      <a:lumMod val="50000"/>
                    </a:schemeClr>
                  </a:solidFill>
                  <a:latin typeface="+mj-lt"/>
                  <a:cs typeface="Times New Roman" panose="02020603050405020304" pitchFamily="18" charset="0"/>
                </a:rPr>
                <a:t>Contact Us!</a:t>
              </a:r>
            </a:p>
          </p:txBody>
        </p:sp>
        <p:sp>
          <p:nvSpPr>
            <p:cNvPr id="12" name="TextBox 11">
              <a:extLst>
                <a:ext uri="{FF2B5EF4-FFF2-40B4-BE49-F238E27FC236}">
                  <a16:creationId xmlns:a16="http://schemas.microsoft.com/office/drawing/2014/main" id="{B07824AA-81EB-DBA9-B6CD-FBCE0F83E3D7}"/>
                </a:ext>
              </a:extLst>
            </p:cNvPr>
            <p:cNvSpPr txBox="1"/>
            <p:nvPr/>
          </p:nvSpPr>
          <p:spPr>
            <a:xfrm rot="5400000">
              <a:off x="41693036" y="1142125"/>
              <a:ext cx="2530394" cy="646331"/>
            </a:xfrm>
            <a:prstGeom prst="rect">
              <a:avLst/>
            </a:prstGeom>
            <a:noFill/>
          </p:spPr>
          <p:txBody>
            <a:bodyPr wrap="square" rtlCol="0">
              <a:spAutoFit/>
            </a:bodyPr>
            <a:lstStyle/>
            <a:p>
              <a:pPr algn="ctr"/>
              <a:r>
                <a:rPr lang="en-US" sz="3600" b="1">
                  <a:solidFill>
                    <a:schemeClr val="accent5">
                      <a:lumMod val="50000"/>
                    </a:schemeClr>
                  </a:solidFill>
                  <a:latin typeface="+mj-lt"/>
                  <a:cs typeface="Times New Roman" panose="02020603050405020304" pitchFamily="18" charset="0"/>
                </a:rPr>
                <a:t>Contact Us!</a:t>
              </a:r>
            </a:p>
          </p:txBody>
        </p:sp>
      </p:grpSp>
    </p:spTree>
    <p:extLst>
      <p:ext uri="{BB962C8B-B14F-4D97-AF65-F5344CB8AC3E}">
        <p14:creationId xmlns:p14="http://schemas.microsoft.com/office/powerpoint/2010/main" val="2690785244"/>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3B54D5405B5848A13634A35A0BEDDF" ma:contentTypeVersion="13" ma:contentTypeDescription="Create a new document." ma:contentTypeScope="" ma:versionID="ffe2af5408e3f423e8e24293b28bb20e">
  <xsd:schema xmlns:xsd="http://www.w3.org/2001/XMLSchema" xmlns:xs="http://www.w3.org/2001/XMLSchema" xmlns:p="http://schemas.microsoft.com/office/2006/metadata/properties" xmlns:ns3="5f091ce3-50e7-4ef8-a1e4-fac4a89cc76e" xmlns:ns4="3dfa6c7b-34cf-4cd8-8d4b-af214b06c654" targetNamespace="http://schemas.microsoft.com/office/2006/metadata/properties" ma:root="true" ma:fieldsID="800baf4a94c4f5c222a150067bc11acc" ns3:_="" ns4:_="">
    <xsd:import namespace="5f091ce3-50e7-4ef8-a1e4-fac4a89cc76e"/>
    <xsd:import namespace="3dfa6c7b-34cf-4cd8-8d4b-af214b06c65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091ce3-50e7-4ef8-a1e4-fac4a89cc7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fa6c7b-34cf-4cd8-8d4b-af214b06c65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f091ce3-50e7-4ef8-a1e4-fac4a89cc76e" xsi:nil="true"/>
  </documentManagement>
</p:properties>
</file>

<file path=customXml/itemProps1.xml><?xml version="1.0" encoding="utf-8"?>
<ds:datastoreItem xmlns:ds="http://schemas.openxmlformats.org/officeDocument/2006/customXml" ds:itemID="{87F55817-6EA4-4B0A-84B7-519A7F59DF32}">
  <ds:schemaRefs>
    <ds:schemaRef ds:uri="http://schemas.microsoft.com/sharepoint/v3/contenttype/forms"/>
  </ds:schemaRefs>
</ds:datastoreItem>
</file>

<file path=customXml/itemProps2.xml><?xml version="1.0" encoding="utf-8"?>
<ds:datastoreItem xmlns:ds="http://schemas.openxmlformats.org/officeDocument/2006/customXml" ds:itemID="{32ECB866-9C17-45B6-A903-F6BD62CD7975}">
  <ds:schemaRefs>
    <ds:schemaRef ds:uri="3dfa6c7b-34cf-4cd8-8d4b-af214b06c654"/>
    <ds:schemaRef ds:uri="5f091ce3-50e7-4ef8-a1e4-fac4a89cc7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850C258-1BB2-4F94-96E9-D63D35CD4C10}">
  <ds:schemaRefs>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3dfa6c7b-34cf-4cd8-8d4b-af214b06c654"/>
    <ds:schemaRef ds:uri="5f091ce3-50e7-4ef8-a1e4-fac4a89cc76e"/>
    <ds:schemaRef ds:uri="http://schemas.openxmlformats.org/package/2006/metadata/core-properties"/>
    <ds:schemaRef ds:uri="http://purl.org/dc/terms/"/>
    <ds:schemaRef ds:uri="http://purl.org/dc/elements/1.1/"/>
  </ds:schemaRefs>
</ds:datastoreItem>
</file>

<file path=docMetadata/LabelInfo.xml><?xml version="1.0" encoding="utf-8"?>
<clbl:labelList xmlns:clbl="http://schemas.microsoft.com/office/2020/mipLabelMetadata">
  <clbl:label id="{abe32f68-c72d-420d-b5bd-750c63a268e4}" enabled="0" method="" siteId="{abe32f68-c72d-420d-b5bd-750c63a268e4}" removed="1"/>
</clbl:labelList>
</file>

<file path=docProps/app.xml><?xml version="1.0" encoding="utf-8"?>
<Properties xmlns="http://schemas.openxmlformats.org/officeDocument/2006/extended-properties" xmlns:vt="http://schemas.openxmlformats.org/officeDocument/2006/docPropsVTypes">
  <Template>36x48-Template-V2b</Template>
  <TotalTime>0</TotalTime>
  <Words>525</Words>
  <Application>Microsoft Macintosh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Century Gothic</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Christensen, Spencer</cp:lastModifiedBy>
  <cp:revision>1</cp:revision>
  <dcterms:created xsi:type="dcterms:W3CDTF">2012-02-03T19:11:35Z</dcterms:created>
  <dcterms:modified xsi:type="dcterms:W3CDTF">2026-02-18T01:40:25Z</dcterms:modified>
  <cp:category>Research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0x010100113B54D5405B5848A13634A35A0BEDDF</vt:lpwstr>
  </property>
</Properties>
</file>